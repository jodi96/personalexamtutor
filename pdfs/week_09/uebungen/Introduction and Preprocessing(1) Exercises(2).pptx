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4"/>
  </p:sldMasterIdLst>
  <p:notesMasterIdLst>
    <p:notesMasterId r:id="rId30"/>
  </p:notesMasterIdLst>
  <p:handoutMasterIdLst>
    <p:handoutMasterId r:id="rId31"/>
  </p:handoutMasterIdLst>
  <p:sldIdLst>
    <p:sldId id="288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</p:sldIdLst>
  <p:sldSz cx="12198350" cy="6858000"/>
  <p:notesSz cx="6858000" cy="9144000"/>
  <p:defaultTextStyle>
    <a:defPPr>
      <a:defRPr lang="de-DE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OST Tabelle">
    <a:wholeTbl>
      <a:tcTxStyle>
        <a:fontRef idx="minor">
          <a:prstClr val="black"/>
        </a:fontRef>
        <a:schemeClr val="dk1"/>
      </a:tcTxStyle>
      <a:tcStyle>
        <a:tcBdr>
          <a:left>
            <a:ln w="28575" cmpd="sng">
              <a:solidFill>
                <a:srgbClr val="56276D"/>
              </a:solidFill>
            </a:ln>
          </a:left>
          <a:right>
            <a:ln w="28575" cmpd="sng">
              <a:solidFill>
                <a:srgbClr val="56276D"/>
              </a:solidFill>
            </a:ln>
          </a:right>
          <a:top>
            <a:ln w="28575" cmpd="sng">
              <a:solidFill>
                <a:srgbClr val="56276D"/>
              </a:solidFill>
            </a:ln>
          </a:top>
          <a:bottom>
            <a:ln w="28575" cmpd="sng">
              <a:solidFill>
                <a:srgbClr val="56276D"/>
              </a:solidFill>
            </a:ln>
          </a:bottom>
          <a:insideH>
            <a:ln w="28575" cmpd="sng">
              <a:solidFill>
                <a:srgbClr val="56276D"/>
              </a:solidFill>
            </a:ln>
          </a:insideH>
          <a:insideV>
            <a:ln w="28575" cmpd="sng">
              <a:solidFill>
                <a:srgbClr val="56276D"/>
              </a:solidFill>
            </a:ln>
          </a:insideV>
        </a:tcBdr>
        <a:fill>
          <a:noFill/>
        </a:fill>
      </a:tcStyle>
    </a:wholeTbl>
    <a:firstCol>
      <a:tcTxStyle b="on">
        <a:fontRef idx="minor"/>
        <a:srgbClr val="000000"/>
      </a:tcTxStyle>
      <a:tcStyle>
        <a:tcBdr/>
        <a:fill>
          <a:noFill/>
        </a:fill>
      </a:tcStyle>
    </a:firstCol>
    <a:firstRow>
      <a:tcTxStyle b="on">
        <a:fontRef idx="minor"/>
        <a:srgbClr val="000000"/>
      </a:tcTxStyle>
      <a:tcStyle>
        <a:tcBdr/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7459" autoAdjust="0"/>
  </p:normalViewPr>
  <p:slideViewPr>
    <p:cSldViewPr snapToGrid="0" snapToObjects="1">
      <p:cViewPr varScale="1">
        <p:scale>
          <a:sx n="110" d="100"/>
          <a:sy n="110" d="100"/>
        </p:scale>
        <p:origin x="114" y="121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1" d="100"/>
          <a:sy n="101" d="100"/>
        </p:scale>
        <p:origin x="353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5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8E594-98F6-3A40-9CB1-890EFD882430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A8F55-2519-6F41-91E3-24F0254F6F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05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A80C-0032-A04F-8DC3-1D9FA424B670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8BABC-F464-1C42-81DA-2E65C84DE5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0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1" y="0"/>
            <a:ext cx="1219835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5404" y="679931"/>
            <a:ext cx="8222947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42407" y="1910668"/>
            <a:ext cx="6555944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8700" y="3239457"/>
            <a:ext cx="6790944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6177" y="1533510"/>
            <a:ext cx="2691819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3464" y="5641975"/>
            <a:ext cx="1445099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200">
                <a:latin typeface="+mn-lt"/>
              </a:defRPr>
            </a:lvl1pPr>
          </a:lstStyle>
          <a:p>
            <a:fld id="{264CC842-4DE8-4AA6-BC4B-F04B1ED0069B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835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6200774"/>
            <a:ext cx="5541757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410388"/>
            <a:ext cx="6790944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3464" y="5342714"/>
            <a:ext cx="5546993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lt"/>
              </a:defRPr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</p:spTree>
    <p:extLst>
      <p:ext uri="{BB962C8B-B14F-4D97-AF65-F5344CB8AC3E}">
        <p14:creationId xmlns:p14="http://schemas.microsoft.com/office/powerpoint/2010/main" val="324459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1804" y="5947634"/>
            <a:ext cx="1558409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835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8531" y="3427353"/>
            <a:ext cx="5957391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9363" y="6453187"/>
            <a:ext cx="3377345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9A174D-0E41-4B3E-BB70-D85465897A57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7514" y="4224664"/>
            <a:ext cx="4064000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9363" y="5949950"/>
            <a:ext cx="3365053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50" y="5949950"/>
            <a:ext cx="4532081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</p:spTree>
    <p:extLst>
      <p:ext uri="{BB962C8B-B14F-4D97-AF65-F5344CB8AC3E}">
        <p14:creationId xmlns:p14="http://schemas.microsoft.com/office/powerpoint/2010/main" val="2044621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7F6D-8891-40E1-8522-6366D135ABEA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4462" y="333375"/>
            <a:ext cx="5365751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49" y="2213149"/>
            <a:ext cx="5364164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53641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 baseline="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605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835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110537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6CE7-67CC-435F-9F5E-A1AEBDE861EC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50" y="2213149"/>
            <a:ext cx="7371633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0219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450" y="1449387"/>
            <a:ext cx="11053763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900" marR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2000" baseline="0"/>
            </a:lvl1pPr>
            <a:lvl2pPr marL="360363" indent="-36036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2000" b="1" baseline="0"/>
            </a:lvl2pPr>
            <a:lvl3pPr marL="628650" indent="-2682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/>
            </a:lvl3pPr>
            <a:lvl4pPr marL="895350" indent="-206375">
              <a:spcBef>
                <a:spcPts val="400"/>
              </a:spcBef>
              <a:spcAft>
                <a:spcPts val="0"/>
              </a:spcAft>
              <a:defRPr/>
            </a:lvl4pPr>
            <a:lvl5pPr marL="1163638" indent="-230188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Thema 1 [Ebene 1]</a:t>
            </a:r>
          </a:p>
          <a:p>
            <a:pPr lvl="1"/>
            <a:r>
              <a:rPr lang="de-DE" dirty="0"/>
              <a:t>Thema 2 aktiv [Ebene 2]</a:t>
            </a:r>
          </a:p>
          <a:p>
            <a:pPr lvl="2"/>
            <a:r>
              <a:rPr lang="de-DE" dirty="0"/>
              <a:t>Unterthema 1 [Ebene 3]</a:t>
            </a:r>
          </a:p>
          <a:p>
            <a:pPr lvl="2"/>
            <a:r>
              <a:rPr lang="de-DE" dirty="0"/>
              <a:t>Unterthema 2 [Ebene 3]</a:t>
            </a:r>
          </a:p>
          <a:p>
            <a:pPr marL="342900" marR="0" lvl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Thema 3 [Ebene 1]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37E42-749D-4FBB-A818-2A07BB48FFC0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450" y="333376"/>
            <a:ext cx="11053763" cy="287337"/>
          </a:xfrm>
        </p:spPr>
        <p:txBody>
          <a:bodyPr/>
          <a:lstStyle>
            <a:lvl1pPr>
              <a:defRPr lang="de-DE" sz="2000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Agenda-Titel eingeben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30436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450" y="1449388"/>
            <a:ext cx="110537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1933275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AD21A-6E20-4E2B-AEDB-7088F015233B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4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60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7685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8848EAD-CB32-45AE-995A-E1C2778C9FC7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451" y="1449388"/>
            <a:ext cx="5364576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5072" y="1449388"/>
            <a:ext cx="5353967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450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4463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247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31782" y="333375"/>
            <a:ext cx="4428432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5A58-4B65-4567-BA46-A4420E983158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450" y="1449388"/>
            <a:ext cx="6337300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6337301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1" y="692150"/>
            <a:ext cx="6337300" cy="684213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2290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94A9E40-7240-4F8C-91F5-7243BE9F6D2D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2476660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85F5-C6E5-4C4C-B2F6-06E8354F62A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84216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3B2C-638F-41DD-91D2-E7ADFBC8BEC0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835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10612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 dirty="0"/>
              <a:t>Titel Inhaltsfolie einzeilig</a:t>
            </a:r>
            <a:endParaRPr lang="de-CH" dirty="0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958" y="6454845"/>
            <a:ext cx="0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/>
            </a:lvl1pPr>
          </a:lstStyle>
          <a:p>
            <a:fld id="{88D045DE-9EA8-4D00-A06A-18A4CA464667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450" y="6454846"/>
            <a:ext cx="5364163" cy="236900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200"/>
            </a:lvl1pPr>
          </a:lstStyle>
          <a:p>
            <a:r>
              <a:rPr lang="de-CH" dirty="0"/>
              <a:t>Titel ändern: Menü 'Einfügen'&gt;'Kopf- und Fusszeile'</a:t>
            </a:r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958" y="1449388"/>
            <a:ext cx="11057254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4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67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/>
  <p:txStyles>
    <p:titleStyle>
      <a:lvl1pPr algn="l" defTabSz="609768" rtl="0" eaLnBrk="1" latinLnBrk="0" hangingPunct="1">
        <a:lnSpc>
          <a:spcPct val="120000"/>
        </a:lnSpc>
        <a:spcBef>
          <a:spcPct val="0"/>
        </a:spcBef>
        <a:buNone/>
        <a:defRPr sz="32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609768" rtl="0" eaLnBrk="1" latinLnBrk="0" hangingPunct="1">
        <a:spcBef>
          <a:spcPts val="18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609768" rtl="0" eaLnBrk="1" latinLnBrk="0" hangingPunct="1">
        <a:spcBef>
          <a:spcPts val="1200"/>
        </a:spcBef>
        <a:buClr>
          <a:schemeClr val="tx1"/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609768" rtl="0" eaLnBrk="1" latinLnBrk="0" hangingPunct="1">
        <a:spcBef>
          <a:spcPts val="1000"/>
        </a:spcBef>
        <a:buSzPct val="9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609768" rtl="0" eaLnBrk="1" latinLnBrk="0" hangingPunct="1"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marR="0" indent="-252000" algn="l" defTabSz="609768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61118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4000" indent="-252000" algn="l" defTabSz="60976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257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025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6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535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30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7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83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606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37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14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 userDrawn="1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Introduction</a:t>
            </a:r>
            <a:r>
              <a:rPr lang="de-CH" dirty="0"/>
              <a:t> and </a:t>
            </a:r>
            <a:r>
              <a:rPr lang="de-CH" dirty="0" err="1"/>
              <a:t>Preprocessing</a:t>
            </a:r>
            <a:r>
              <a:rPr lang="de-CH" dirty="0"/>
              <a:t>(1) </a:t>
            </a:r>
            <a:r>
              <a:rPr lang="de-CH" dirty="0" err="1"/>
              <a:t>Exercises</a:t>
            </a:r>
            <a:r>
              <a:rPr lang="de-CH" dirty="0"/>
              <a:t>	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/>
              <a:t>Studiengang Informatik </a:t>
            </a:r>
            <a:endParaRPr lang="de-CH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 err="1"/>
              <a:t>Lecture</a:t>
            </a:r>
            <a:r>
              <a:rPr lang="de-CH" dirty="0"/>
              <a:t> in Data Analytics	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Prof. Dr. Daniel P. Politze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E18F-3467-492D-A49B-13D7C1673E76}" type="datetime4">
              <a:rPr lang="de-CH" smtClean="0"/>
              <a:t>24. April 2025</a:t>
            </a:fld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1EA0FBD-1B43-8EA9-9A4D-366AE6065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4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4F83908-1CFB-458B-9643-3CF5106C8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CRISP-DM  </a:t>
            </a:r>
          </a:p>
          <a:p>
            <a:r>
              <a:rPr lang="de-CH" dirty="0" err="1"/>
              <a:t>Overview</a:t>
            </a:r>
            <a:br>
              <a:rPr lang="de-CH" dirty="0"/>
            </a:br>
            <a:r>
              <a:rPr lang="de-CH" dirty="0"/>
              <a:t>- </a:t>
            </a:r>
            <a:r>
              <a:rPr lang="de-CH" dirty="0" err="1"/>
              <a:t>Association</a:t>
            </a:r>
            <a:br>
              <a:rPr lang="de-CH" dirty="0"/>
            </a:br>
            <a:r>
              <a:rPr lang="de-CH" dirty="0"/>
              <a:t>- Classification</a:t>
            </a:r>
            <a:br>
              <a:rPr lang="de-CH" dirty="0"/>
            </a:br>
            <a:r>
              <a:rPr lang="de-CH" dirty="0"/>
              <a:t>- Segmentation/Clustering</a:t>
            </a:r>
            <a:br>
              <a:rPr lang="de-CH" dirty="0"/>
            </a:br>
            <a:r>
              <a:rPr lang="de-CH" dirty="0"/>
              <a:t>- Regression</a:t>
            </a:r>
            <a:br>
              <a:rPr lang="de-CH" dirty="0"/>
            </a:br>
            <a:endParaRPr lang="de-CH" dirty="0"/>
          </a:p>
          <a:p>
            <a:pPr marL="0" indent="0">
              <a:buNone/>
            </a:pPr>
            <a:r>
              <a:rPr lang="de-CH" dirty="0"/>
              <a:t> 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59F990-0D81-40C1-B7B9-CCE52D2D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8CA274-EA5D-4245-AD7E-7E8B3F193D6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93AA20-36C5-4937-9FD5-B60A30E96D0A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135ABE-84EE-4156-96B2-5DB293E1D7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191C7-A532-4379-B116-8A47649D6F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1590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D1B9C-CA08-4E10-809F-935010AD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378BA1-A8FB-46B5-A959-0FC2FEF1DC6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dirty="0" err="1"/>
              <a:t>Anwendungsfall</a:t>
            </a:r>
            <a:r>
              <a:rPr lang="en-US" dirty="0"/>
              <a:t> </a:t>
            </a:r>
            <a:r>
              <a:rPr lang="en-US" dirty="0" err="1"/>
              <a:t>diskutieren</a:t>
            </a:r>
            <a:r>
              <a:rPr lang="en-US" dirty="0"/>
              <a:t> und verstehen. </a:t>
            </a:r>
          </a:p>
          <a:p>
            <a:r>
              <a:rPr lang="en-US" dirty="0"/>
              <a:t>Domain in der man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befindet</a:t>
            </a:r>
            <a:r>
              <a:rPr lang="en-US" dirty="0"/>
              <a:t> verstehen. (Data Analyst </a:t>
            </a:r>
            <a:r>
              <a:rPr lang="en-US" dirty="0" err="1"/>
              <a:t>weiss</a:t>
            </a:r>
            <a:r>
              <a:rPr lang="en-US" dirty="0"/>
              <a:t> </a:t>
            </a:r>
            <a:r>
              <a:rPr lang="en-US" dirty="0" err="1"/>
              <a:t>z.b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was die </a:t>
            </a:r>
            <a:r>
              <a:rPr lang="en-US" dirty="0" err="1"/>
              <a:t>Daten</a:t>
            </a:r>
            <a:r>
              <a:rPr lang="en-US" dirty="0"/>
              <a:t> von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Maschine</a:t>
            </a:r>
            <a:r>
              <a:rPr lang="en-US" dirty="0"/>
              <a:t> </a:t>
            </a:r>
            <a:r>
              <a:rPr lang="en-US" dirty="0" err="1"/>
              <a:t>bedeuten</a:t>
            </a:r>
            <a:r>
              <a:rPr lang="en-US" dirty="0"/>
              <a:t>)</a:t>
            </a:r>
          </a:p>
          <a:p>
            <a:r>
              <a:rPr lang="en-US" dirty="0" err="1"/>
              <a:t>Herausfinden</a:t>
            </a:r>
            <a:r>
              <a:rPr lang="en-US" dirty="0"/>
              <a:t> auf welches </a:t>
            </a:r>
            <a:r>
              <a:rPr lang="en-US" dirty="0" err="1"/>
              <a:t>Ziel</a:t>
            </a:r>
            <a:r>
              <a:rPr lang="en-US" dirty="0"/>
              <a:t> das </a:t>
            </a:r>
            <a:r>
              <a:rPr lang="en-US" dirty="0" err="1"/>
              <a:t>hingearbeitet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 </a:t>
            </a:r>
          </a:p>
          <a:p>
            <a:r>
              <a:rPr lang="en-US" dirty="0"/>
              <a:t>Was </a:t>
            </a:r>
            <a:r>
              <a:rPr lang="en-US" dirty="0" err="1"/>
              <a:t>sind</a:t>
            </a:r>
            <a:r>
              <a:rPr lang="en-US" dirty="0"/>
              <a:t> die </a:t>
            </a:r>
            <a:r>
              <a:rPr lang="en-US" dirty="0" err="1"/>
              <a:t>Abnahmekriterien</a:t>
            </a:r>
            <a:r>
              <a:rPr lang="en-US" dirty="0"/>
              <a:t> am Ende der Evaluation.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Ziele</a:t>
            </a:r>
            <a:r>
              <a:rPr lang="en-US" dirty="0"/>
              <a:t> </a:t>
            </a:r>
            <a:r>
              <a:rPr lang="en-US" dirty="0" err="1"/>
              <a:t>möchte</a:t>
            </a:r>
            <a:r>
              <a:rPr lang="en-US" dirty="0"/>
              <a:t> man </a:t>
            </a:r>
            <a:r>
              <a:rPr lang="en-US" dirty="0" err="1"/>
              <a:t>erreichen</a:t>
            </a:r>
            <a:r>
              <a:rPr lang="en-US" dirty="0"/>
              <a:t>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109BDB-BDA3-40B4-AD59-EBCA96C51A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8C246B-C29E-4952-878F-4B6EC8304D8F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90EBCA-4D2D-44CA-AA2F-1C0DED5BB3D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A89BD2-799E-4EDF-B206-AACC37214E2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3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3D869B-9A4F-04A2-DABD-AAE20978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67" y="4169871"/>
            <a:ext cx="3696216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3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EA34C-2B95-0253-778A-077DC69C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understanding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3A6703-2146-773C-6C5B-5F950ADE3CBD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Herausfinden wo sich die Daten befinden (mehrere Datenquellen?) </a:t>
            </a:r>
          </a:p>
          <a:p>
            <a:r>
              <a:rPr lang="de-CH" dirty="0"/>
              <a:t>Inhalt der Daten verstehen</a:t>
            </a:r>
          </a:p>
          <a:p>
            <a:r>
              <a:rPr lang="de-CH" dirty="0"/>
              <a:t>Qualität der Daten beurteilen</a:t>
            </a:r>
          </a:p>
          <a:p>
            <a:r>
              <a:rPr lang="de-CH" dirty="0"/>
              <a:t>Erste Gedanken im Bereich des Einsatzzwecks der Daten</a:t>
            </a:r>
          </a:p>
          <a:p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F9C487-CDA3-5D49-E587-E4E194A146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30A2BD-46BD-4AAF-F8D1-1BF463F33348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02628C-8793-91DE-7555-67E06C6FF7C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E5185B-7887-5CB3-A63F-FA503D5A80F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4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F9D253B-D327-AD67-237F-0D176831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10" y="4089110"/>
            <a:ext cx="380100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2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688B8-94D2-57E1-069E-F25CB254C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Preparation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113C85-B98B-6F3D-3144-93CC25F38D6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Daten aufbereiten</a:t>
            </a:r>
          </a:p>
          <a:p>
            <a:r>
              <a:rPr lang="de-CH" dirty="0"/>
              <a:t>Daten zusammenführen </a:t>
            </a:r>
            <a:r>
              <a:rPr lang="de-CH" dirty="0">
                <a:sym typeface="Wingdings" panose="05000000000000000000" pitchFamily="2" charset="2"/>
              </a:rPr>
              <a:t> Daten in einheitliches Format bringen</a:t>
            </a:r>
          </a:p>
          <a:p>
            <a:r>
              <a:rPr lang="de-CH" dirty="0">
                <a:sym typeface="Wingdings" panose="05000000000000000000" pitchFamily="2" charset="2"/>
              </a:rPr>
              <a:t>Daten säubern  Fehlende Daten Standardwert, Falsche Daten löschen…..</a:t>
            </a:r>
          </a:p>
          <a:p>
            <a:r>
              <a:rPr lang="de-CH" dirty="0"/>
              <a:t>Feature Engineering </a:t>
            </a:r>
            <a:r>
              <a:rPr lang="de-CH" dirty="0">
                <a:sym typeface="Wingdings" panose="05000000000000000000" pitchFamily="2" charset="2"/>
              </a:rPr>
              <a:t> Normalisierung der Daten, wichtige Parameter bestimmen.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9AC394-C523-F553-8D92-BD2842D709E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94F60B-8641-8614-2B8D-B380BF800986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09833E-0FBA-2A03-30BC-557F86DD4CA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8E1854-5CBE-311A-2201-352F9670262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5</a:t>
            </a:fld>
            <a:endParaRPr lang="en-US" noProof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96CE4D1-BE7F-DB67-871A-03CED214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294" y="4089110"/>
            <a:ext cx="3848637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4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A835D-D31D-DE70-3E11-C2D66FB3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Modeling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20B5EA-6D04-430F-5FF2-5BB739D65104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Anwendung von Algorithmen auf die vorbereiteten Daten</a:t>
            </a:r>
          </a:p>
          <a:p>
            <a:r>
              <a:rPr lang="de-CH" dirty="0"/>
              <a:t>Herausfinden welcher Algorithmus am besten geeignet ist.</a:t>
            </a:r>
          </a:p>
          <a:p>
            <a:r>
              <a:rPr lang="de-CH" dirty="0"/>
              <a:t>Training des Models </a:t>
            </a:r>
            <a:r>
              <a:rPr lang="de-CH" dirty="0">
                <a:sym typeface="Wingdings" panose="05000000000000000000" pitchFamily="2" charset="2"/>
              </a:rPr>
              <a:t> Aufteilung der Testdaten und Validierungsdaten</a:t>
            </a:r>
          </a:p>
          <a:p>
            <a:r>
              <a:rPr lang="de-CH" dirty="0">
                <a:sym typeface="Wingdings" panose="05000000000000000000" pitchFamily="2" charset="2"/>
              </a:rPr>
              <a:t>Bestes Model finden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93470D-81AF-6D5E-ABC9-2552B4DBE3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DA9C5B-1547-F1F8-DF4F-A7472B85F9F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E98970-75BE-044F-9D5C-57F84CDA92B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C28499-1591-3ED8-E1E1-2F72EDAFBA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6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A4F137A-1FD4-3442-A35C-30DBFE37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488" y="3941574"/>
            <a:ext cx="375337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7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8A760-248F-E09A-25C3-5483227E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CE6520-D545-099E-9052-CBBC29AD7EF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Besprechung der Ergebnisse</a:t>
            </a:r>
          </a:p>
          <a:p>
            <a:r>
              <a:rPr lang="de-CH" dirty="0"/>
              <a:t>Gibt es Dinge die man übersehen hat? (Parameter, Qualität der Daten, richtiger Algorithmus?)</a:t>
            </a:r>
          </a:p>
          <a:p>
            <a:r>
              <a:rPr lang="de-CH" dirty="0"/>
              <a:t>Ist das Model gut genug. Sind die Ergebnisse Aussagekräftig?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A487C2-FC36-3275-9601-7488C9E9110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0D9AD6-67D9-18DD-AF58-53CC43C236F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22A3AC-2787-EA5C-5715-9ABDA3E4F2B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D7914C-1E29-2AAE-F950-980D72CBFE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7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73E15FD-E51B-EB7A-EBD7-0C9415D8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619" y="4089110"/>
            <a:ext cx="383911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4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E79B63-18E3-3C9C-4CFE-12E74D48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Deployment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58BB4C-747C-68F0-A09A-C5E059C5E10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Präsentation der Resultate</a:t>
            </a:r>
          </a:p>
          <a:p>
            <a:r>
              <a:rPr lang="de-CH" dirty="0"/>
              <a:t>Integration des Models 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8C0D7D-9DA7-DE14-CBD3-98C50994B4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CRISP-DM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62473E-8901-5E8A-D081-98BF514F71B6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E67BCE-D3F7-F002-EFBB-1D7DA84A60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5325D5-BBA8-148E-6256-B757C4129D2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8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704A696-3366-4FC8-01E8-3A936F23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72" y="3825081"/>
            <a:ext cx="380100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9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C96E95-F61B-129A-DED2-7C432F8C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fällt auf bei folgender Statistik?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4C20DA-8E88-64AE-470E-58D1D4C0E0EF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1F6C9F-ACD9-B7A2-2926-091B2D0E1E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23A283-5D2A-AEBE-96B8-85F699834EAA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435F18-E3C6-C841-DC40-724FA15E8B1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A9BE68-75C6-670B-1881-C05E5A714B3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9</a:t>
            </a:fld>
            <a:endParaRPr lang="en-US" noProof="0"/>
          </a:p>
        </p:txBody>
      </p:sp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id="{C3C54BC3-C74D-4876-6555-8CDDB448FED5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39937" y="1814384"/>
            <a:ext cx="8180439" cy="402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9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5AF9E-A7CF-FE83-D681-C2ECBF93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Zeitaufwand im Data Mining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9B381-940C-CD3B-4AA0-77EF091E166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preparation</a:t>
            </a:r>
            <a:r>
              <a:rPr lang="de-CH" dirty="0"/>
              <a:t> ist aufwändig. Daten in einheitliches Format zu bringen + in guter Qualität zu haben ist aufwändig</a:t>
            </a:r>
          </a:p>
          <a:p>
            <a:r>
              <a:rPr lang="de-CH" dirty="0"/>
              <a:t>Data Modeling kann aufgrund der vielen Algorithmen und vielen möglichen Parameter ebenfalls Zeitaufwändig sein. Da man herausfinden muss welches Model am besten performt. </a:t>
            </a:r>
          </a:p>
          <a:p>
            <a:r>
              <a:rPr lang="de-CH" dirty="0"/>
              <a:t>Evaluation kein grosser Zeitaufwand da heutzutage moderne Frameworks uns alle Zahlen automatisch rausgeben im Bezug auf Genauigkeit und Performance des Modells.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A134A9-A1CA-38A9-089F-AD2D553CE3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F69F60-452B-123A-4335-D75508861DD4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0E6CA1-998E-48BE-8665-ADEA6D5E94BC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254966-DC65-B499-4422-93536DF7349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2273BC-880A-7A65-CC42-CBA741C0107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en-US" smtClean="0"/>
              <a:pPr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58153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3AE66AC7-FDE2-2483-5FE7-B7593182F4B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tretch/>
        </p:blipFill>
        <p:spPr>
          <a:xfrm>
            <a:off x="7476030" y="333375"/>
            <a:ext cx="4339935" cy="5867400"/>
          </a:xfrm>
          <a:noFill/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990FE1-51E1-A179-1DB8-14205CF42F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6450" y="1449388"/>
            <a:ext cx="6337300" cy="4751387"/>
          </a:xfrm>
        </p:spPr>
        <p:txBody>
          <a:bodyPr/>
          <a:lstStyle/>
          <a:p>
            <a:r>
              <a:rPr lang="en-US" dirty="0" err="1"/>
              <a:t>Wird</a:t>
            </a:r>
            <a:r>
              <a:rPr lang="en-US" dirty="0"/>
              <a:t> oft in der </a:t>
            </a:r>
            <a:r>
              <a:rPr lang="en-US" dirty="0" err="1"/>
              <a:t>Warenkorbanalyse</a:t>
            </a:r>
            <a:r>
              <a:rPr lang="en-US" dirty="0"/>
              <a:t> </a:t>
            </a:r>
            <a:r>
              <a:rPr lang="en-US" dirty="0" err="1"/>
              <a:t>verwendet</a:t>
            </a:r>
            <a:endParaRPr lang="en-US" dirty="0"/>
          </a:p>
          <a:p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versuchen</a:t>
            </a:r>
            <a:r>
              <a:rPr lang="en-US" dirty="0"/>
              <a:t> </a:t>
            </a:r>
            <a:r>
              <a:rPr lang="en-US" dirty="0" err="1"/>
              <a:t>herauszufinden</a:t>
            </a:r>
            <a:r>
              <a:rPr lang="en-US" dirty="0"/>
              <a:t>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 “</a:t>
            </a:r>
            <a:r>
              <a:rPr lang="en-US" dirty="0" err="1"/>
              <a:t>zusammengehören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de-CH" i="1" dirty="0"/>
              <a:t>	Wenn jemand Brot kauft, dann ist die Wahrscheinlichkeit 66,7%, dass er auch Butter kauft.</a:t>
            </a:r>
            <a:endParaRPr lang="en-US" i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BA5DAF-DCC3-1927-73FA-3D7E53D1C3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449" y="334039"/>
            <a:ext cx="6337301" cy="28667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CH" dirty="0" err="1"/>
              <a:t>Overview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CAB66D-BB05-DA63-EFB2-A6D58628B9F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2BA5D3F3-3C26-4DD4-A792-2C4C7D9631C1}" type="datetime3">
              <a:rPr lang="en-US" smtClean="0"/>
              <a:pPr/>
              <a:t>24 April 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27DF4F-A062-6FAC-49BF-571D763D2A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Change title: menu 'Insert'&gt;'Header and Footer'</a:t>
            </a:r>
            <a:endParaRPr lang="en-US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7DA13B-7716-4E84-EF3A-276AEC5AA00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>
            <a:normAutofit/>
          </a:bodyPr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4EAC321B-7500-4259-A00F-915439A35E15}" type="slidenum">
              <a:rPr lang="en-US" smtClean="0"/>
              <a:pPr/>
              <a:t>11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5085BE-2C9D-96E7-11C4-621DA2EE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1" y="692150"/>
            <a:ext cx="6337300" cy="684213"/>
          </a:xfrm>
        </p:spPr>
        <p:txBody>
          <a:bodyPr anchor="ctr">
            <a:normAutofit/>
          </a:bodyPr>
          <a:lstStyle/>
          <a:p>
            <a:r>
              <a:rPr lang="de-CH" dirty="0" err="1"/>
              <a:t>Association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3705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BFAE009-F816-0967-CF1D-175E62392E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449" y="334039"/>
            <a:ext cx="11053764" cy="2866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65EA3C9-BD8A-5AF4-6E10-602B3E15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 anchor="ctr">
            <a:normAutofit/>
          </a:bodyPr>
          <a:lstStyle/>
          <a:p>
            <a:r>
              <a:rPr lang="de-CH" dirty="0"/>
              <a:t>Classification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A178C963-8833-44FF-AF81-251D07E98FA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6450" y="1881188"/>
            <a:ext cx="5364163" cy="4319587"/>
          </a:xfrm>
        </p:spPr>
        <p:txBody>
          <a:bodyPr/>
          <a:lstStyle/>
          <a:p>
            <a:r>
              <a:rPr lang="en-US" dirty="0" err="1"/>
              <a:t>Zuteilung</a:t>
            </a:r>
            <a:r>
              <a:rPr lang="en-US" dirty="0"/>
              <a:t> von </a:t>
            </a:r>
            <a:r>
              <a:rPr lang="en-US" dirty="0" err="1"/>
              <a:t>Daten</a:t>
            </a:r>
            <a:r>
              <a:rPr lang="en-US" dirty="0"/>
              <a:t> in </a:t>
            </a:r>
            <a:r>
              <a:rPr lang="en-US" dirty="0" err="1"/>
              <a:t>Kategorien</a:t>
            </a:r>
            <a:endParaRPr lang="en-US" dirty="0"/>
          </a:p>
          <a:p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rechts</a:t>
            </a:r>
            <a:r>
              <a:rPr lang="en-US" dirty="0"/>
              <a:t>: Wie </a:t>
            </a:r>
            <a:r>
              <a:rPr lang="en-US" dirty="0" err="1"/>
              <a:t>hoch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Wahrscheinlichkeit</a:t>
            </a:r>
            <a:r>
              <a:rPr lang="en-US" dirty="0"/>
              <a:t> </a:t>
            </a:r>
            <a:r>
              <a:rPr lang="en-US" dirty="0" err="1"/>
              <a:t>dass</a:t>
            </a:r>
            <a:r>
              <a:rPr lang="en-US" dirty="0"/>
              <a:t> die Person </a:t>
            </a:r>
            <a:r>
              <a:rPr lang="en-US" dirty="0" err="1"/>
              <a:t>betrieben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anhand</a:t>
            </a:r>
            <a:r>
              <a:rPr lang="en-US" dirty="0"/>
              <a:t> seines </a:t>
            </a:r>
            <a:r>
              <a:rPr lang="en-US" dirty="0" err="1"/>
              <a:t>Kontostandes</a:t>
            </a:r>
            <a:endParaRPr lang="en-US" dirty="0"/>
          </a:p>
          <a:p>
            <a:r>
              <a:rPr lang="en-US" dirty="0" err="1"/>
              <a:t>Kategorien</a:t>
            </a:r>
            <a:r>
              <a:rPr lang="en-US" dirty="0"/>
              <a:t> für </a:t>
            </a:r>
            <a:r>
              <a:rPr lang="en-US" dirty="0" err="1"/>
              <a:t>Betreibung</a:t>
            </a:r>
            <a:r>
              <a:rPr lang="en-US" dirty="0"/>
              <a:t> in Ja und </a:t>
            </a:r>
            <a:r>
              <a:rPr lang="en-US" dirty="0" err="1"/>
              <a:t>Nein</a:t>
            </a:r>
            <a:r>
              <a:rPr lang="en-US" dirty="0"/>
              <a:t>. </a:t>
            </a:r>
          </a:p>
          <a:p>
            <a:r>
              <a:rPr lang="en-US" dirty="0" err="1"/>
              <a:t>Logistische</a:t>
            </a:r>
            <a:r>
              <a:rPr lang="en-US" dirty="0"/>
              <a:t> Regression </a:t>
            </a:r>
            <a:r>
              <a:rPr lang="en-US" dirty="0" err="1"/>
              <a:t>dabei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Möglichkeit</a:t>
            </a:r>
            <a:r>
              <a:rPr lang="en-US" dirty="0"/>
              <a:t> für </a:t>
            </a:r>
            <a:r>
              <a:rPr lang="en-US" dirty="0" err="1"/>
              <a:t>Klassifizierung</a:t>
            </a:r>
            <a:r>
              <a:rPr lang="en-US" dirty="0"/>
              <a:t>. </a:t>
            </a:r>
          </a:p>
          <a:p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verschiedene</a:t>
            </a:r>
            <a:r>
              <a:rPr lang="en-US" dirty="0"/>
              <a:t> </a:t>
            </a:r>
            <a:r>
              <a:rPr lang="en-US" dirty="0" err="1"/>
              <a:t>Klassifizierungsalgorithmen</a:t>
            </a:r>
            <a:r>
              <a:rPr lang="en-US" dirty="0"/>
              <a:t>: </a:t>
            </a:r>
            <a:r>
              <a:rPr lang="en-US" dirty="0" err="1"/>
              <a:t>Lineare</a:t>
            </a:r>
            <a:r>
              <a:rPr lang="en-US" dirty="0"/>
              <a:t> </a:t>
            </a:r>
            <a:r>
              <a:rPr lang="en-US" dirty="0" err="1"/>
              <a:t>Diskriminanzanalyse</a:t>
            </a:r>
            <a:r>
              <a:rPr lang="en-US" dirty="0"/>
              <a:t>, K-</a:t>
            </a:r>
            <a:r>
              <a:rPr lang="en-US" dirty="0" err="1"/>
              <a:t>Neares</a:t>
            </a:r>
            <a:r>
              <a:rPr lang="en-US" dirty="0"/>
              <a:t> </a:t>
            </a:r>
            <a:r>
              <a:rPr lang="en-US" dirty="0" err="1"/>
              <a:t>Neighbours</a:t>
            </a:r>
            <a:r>
              <a:rPr lang="en-US" dirty="0"/>
              <a:t>(k-NN)…..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83BB91C-77C7-1FE8-9D94-9E096E45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463" y="2036125"/>
            <a:ext cx="5364163" cy="4009712"/>
          </a:xfrm>
          <a:prstGeom prst="rect">
            <a:avLst/>
          </a:prstGeom>
          <a:noFill/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E6B298-C8F2-404F-8E6E-28CA8B55F248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B03671D8-2F53-4251-B14D-FA619AE07F79}" type="datetime3">
              <a:rPr lang="en-US" smtClean="0"/>
              <a:pPr/>
              <a:t>24 April 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6D0CDC-AEE9-8EFF-659C-7C453F9151B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>
            <a:normAutofit/>
          </a:bodyPr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Change title: menu 'Insert'&gt;'Header and Footer'</a:t>
            </a:r>
            <a:endParaRPr lang="en-US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B42400-3859-8926-9310-67821AA28DF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>
            <a:normAutofit/>
          </a:bodyPr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4EAC321B-7500-4259-A00F-915439A35E15}" type="slidenum">
              <a:rPr lang="de-CH" smtClean="0"/>
              <a:pPr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4096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003C69-3B7F-5010-2128-6A1D989C63F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84A837B-2C14-31A8-B2BB-B214E023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Clustering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717C082-2A92-70DA-DA2B-C11DF9CDA8D2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de-CH" dirty="0"/>
              <a:t>Gehört zu </a:t>
            </a:r>
            <a:r>
              <a:rPr lang="de-CH" dirty="0" err="1"/>
              <a:t>Unsupervised</a:t>
            </a:r>
            <a:r>
              <a:rPr lang="de-CH" dirty="0"/>
              <a:t> </a:t>
            </a:r>
            <a:r>
              <a:rPr lang="de-CH" dirty="0" err="1"/>
              <a:t>learning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 Wir haben keine Trainingsdaten, keine Labels</a:t>
            </a:r>
          </a:p>
          <a:p>
            <a:r>
              <a:rPr lang="de-CH" dirty="0"/>
              <a:t>Wir wollen Daten gruppieren </a:t>
            </a:r>
            <a:r>
              <a:rPr lang="de-CH" dirty="0">
                <a:sym typeface="Wingdings" panose="05000000000000000000" pitchFamily="2" charset="2"/>
              </a:rPr>
              <a:t> Ähnlichkeiten zwischen Gruppendaten finden</a:t>
            </a:r>
          </a:p>
          <a:p>
            <a:r>
              <a:rPr lang="de-CH" dirty="0">
                <a:sym typeface="Wingdings" panose="05000000000000000000" pitchFamily="2" charset="2"/>
              </a:rPr>
              <a:t>Interessant für Marketing</a:t>
            </a:r>
          </a:p>
          <a:p>
            <a:r>
              <a:rPr lang="de-CH" dirty="0">
                <a:sym typeface="Wingdings" panose="05000000000000000000" pitchFamily="2" charset="2"/>
              </a:rPr>
              <a:t>Beispiel zeig K-</a:t>
            </a:r>
            <a:r>
              <a:rPr lang="de-CH" dirty="0" err="1">
                <a:sym typeface="Wingdings" panose="05000000000000000000" pitchFamily="2" charset="2"/>
              </a:rPr>
              <a:t>Means</a:t>
            </a:r>
            <a:r>
              <a:rPr lang="de-CH" dirty="0">
                <a:sym typeface="Wingdings" panose="05000000000000000000" pitchFamily="2" charset="2"/>
              </a:rPr>
              <a:t> Clustering</a:t>
            </a:r>
            <a:endParaRPr lang="de-CH" dirty="0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B00A0EA3-FF6E-3D8C-472D-ABCE494240F3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6494463" y="2171173"/>
            <a:ext cx="5364162" cy="3739617"/>
          </a:xfr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E1341BEE-BD81-7C8D-36BE-6B95EDD8372D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3671D8-2F53-4251-B14D-FA619AE07F79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5F0756D-2A89-2278-D1A5-B4F50065D47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5886C1B-A9B1-9423-6C0A-F06335DF095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5128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16E5F-EF7F-8535-EE41-666B1F2EA7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 err="1"/>
              <a:t>Overview</a:t>
            </a:r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1B8538E-3818-91EB-AF05-16BDB09D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Regression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373990-C544-0A16-729A-2CED5E49818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6449" y="1834856"/>
            <a:ext cx="6019653" cy="4319587"/>
          </a:xfrm>
        </p:spPr>
        <p:txBody>
          <a:bodyPr/>
          <a:lstStyle/>
          <a:p>
            <a:r>
              <a:rPr lang="de-CH" dirty="0"/>
              <a:t>Regression wird gebraucht, um vorhersagen zu treffen</a:t>
            </a:r>
          </a:p>
          <a:p>
            <a:r>
              <a:rPr lang="de-CH" dirty="0"/>
              <a:t>Vor allem für quantitative Variablen</a:t>
            </a:r>
          </a:p>
          <a:p>
            <a:r>
              <a:rPr lang="de-CH" dirty="0"/>
              <a:t>Beispiel rechts: Wie viele Sales machen wir wenn wir Betrag X für Werbung im TV brauchen. </a:t>
            </a:r>
          </a:p>
          <a:p>
            <a:endParaRPr lang="de-CH" dirty="0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91D85E7F-D531-D9DF-5417-9A46C73A7DE1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7396077" y="1834856"/>
            <a:ext cx="3402100" cy="4461120"/>
          </a:xfr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74F5531-4444-A13D-F740-F07034E4C646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3671D8-2F53-4251-B14D-FA619AE07F79}" type="datetime3">
              <a:rPr lang="en-US" smtClean="0"/>
              <a:pPr/>
              <a:t>24 April 2025</a:t>
            </a:fld>
            <a:endParaRPr lang="de-CH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4B71A78-EE9E-7483-0239-D3E6C474509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title: menu 'Insert'&gt;'Header and Footer'</a:t>
            </a:r>
            <a:endParaRPr lang="en-US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F1AFC53-CC95-00C6-D76B-36A8C83C381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59141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20990C0-881A-47D3-AA68-1865AC296596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für Fehler findet ihr in den Daten?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02ED80C-CF11-A3B4-4039-6CFB7755647F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2504760" y="1791748"/>
            <a:ext cx="7657143" cy="406666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1122456-9F12-CA37-0C39-2B0B4FC9FACD}"/>
              </a:ext>
            </a:extLst>
          </p:cNvPr>
          <p:cNvSpPr/>
          <p:nvPr/>
        </p:nvSpPr>
        <p:spPr>
          <a:xfrm>
            <a:off x="2648607" y="2165131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6BA5B4D-2C01-7217-A07A-69AC5A2A17CF}"/>
              </a:ext>
            </a:extLst>
          </p:cNvPr>
          <p:cNvSpPr/>
          <p:nvPr/>
        </p:nvSpPr>
        <p:spPr>
          <a:xfrm>
            <a:off x="2409121" y="2925513"/>
            <a:ext cx="1156138" cy="533174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47CFAC5-56C6-16A0-C2A8-57ABCCC39D98}"/>
              </a:ext>
            </a:extLst>
          </p:cNvPr>
          <p:cNvSpPr/>
          <p:nvPr/>
        </p:nvSpPr>
        <p:spPr>
          <a:xfrm>
            <a:off x="5082653" y="2073691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6D51795-3459-39D6-7093-8D02D9AD9C88}"/>
              </a:ext>
            </a:extLst>
          </p:cNvPr>
          <p:cNvSpPr/>
          <p:nvPr/>
        </p:nvSpPr>
        <p:spPr>
          <a:xfrm>
            <a:off x="7044209" y="2007476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BDA296D-421B-F686-2020-413B139F100A}"/>
              </a:ext>
            </a:extLst>
          </p:cNvPr>
          <p:cNvSpPr/>
          <p:nvPr/>
        </p:nvSpPr>
        <p:spPr>
          <a:xfrm>
            <a:off x="9115521" y="3301032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6B4D251-64F1-D98B-4150-BE4163C21CCD}"/>
              </a:ext>
            </a:extLst>
          </p:cNvPr>
          <p:cNvSpPr/>
          <p:nvPr/>
        </p:nvSpPr>
        <p:spPr>
          <a:xfrm>
            <a:off x="8836047" y="4503382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1881D86-B821-5461-F907-E9FCF8A6AE9A}"/>
              </a:ext>
            </a:extLst>
          </p:cNvPr>
          <p:cNvSpPr/>
          <p:nvPr/>
        </p:nvSpPr>
        <p:spPr>
          <a:xfrm>
            <a:off x="3732824" y="4661037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CA11B03-DD55-F9DA-6B02-41DFB6F63E91}"/>
              </a:ext>
            </a:extLst>
          </p:cNvPr>
          <p:cNvSpPr/>
          <p:nvPr/>
        </p:nvSpPr>
        <p:spPr>
          <a:xfrm>
            <a:off x="7679909" y="5023243"/>
            <a:ext cx="1156138" cy="315310"/>
          </a:xfrm>
          <a:prstGeom prst="rect">
            <a:avLst/>
          </a:prstGeom>
          <a:solidFill>
            <a:schemeClr val="accent5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237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9872E1-AD16-C46B-AF70-48CFCEC1FA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931458-25BA-2173-E96F-E66843A567F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44B0A5-F3A4-DED2-29DC-13FF277C57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16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136C01F-CA5F-CE90-CA7C-16DA5293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für Fehler findet ihr in den Daten?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159EF6-2F42-B77C-1A3A-D012FDDFF1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58ACEA7-0CDE-C2FB-4048-E37CE636838F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2504760" y="1791748"/>
            <a:ext cx="7657143" cy="4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5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1CE0DE-7F8E-3721-EF6B-FB3B5B37F5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7C3A30-FC5A-53F4-53BD-93484D2216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D07C39-5395-7138-C4AD-1BA2F7AC5E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278842-FA17-BB17-AF5E-66EA21F1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Verschiedene Skalen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19A7F136-2D82-8A1F-B451-D980AF5C5099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351590" y="1819789"/>
            <a:ext cx="5963482" cy="4010585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67F060-5D86-0051-832B-6C211CCBFF3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2034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CD5146-F0A8-01A1-C55F-3CB48972BB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F89E2E-86B3-3BF0-F2A8-15391581C4F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A0AAAE-D975-581D-DD08-C648625EEF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0C369E3-7766-D20D-4023-DF9ACB08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Median berechnen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77F5BD-FE92-20FD-96CB-53ABF7BC66C1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Unser Datensatz: 37,14,2,68,5,(16)</a:t>
            </a:r>
          </a:p>
          <a:p>
            <a:r>
              <a:rPr lang="de-CH" dirty="0"/>
              <a:t>1. Datensatz ordnen </a:t>
            </a:r>
            <a:r>
              <a:rPr lang="de-CH" dirty="0">
                <a:sym typeface="Wingdings" panose="05000000000000000000" pitchFamily="2" charset="2"/>
              </a:rPr>
              <a:t> 2,5,14,(16),37,68</a:t>
            </a:r>
          </a:p>
          <a:p>
            <a:r>
              <a:rPr lang="de-CH" dirty="0">
                <a:sym typeface="Wingdings" panose="05000000000000000000" pitchFamily="2" charset="2"/>
              </a:rPr>
              <a:t>2. Bei ungerader Anzahl Samples  Median = Wert an mittlerer Stelle (Bei uns an dritter Stelle)</a:t>
            </a:r>
          </a:p>
          <a:p>
            <a:r>
              <a:rPr lang="de-CH" dirty="0">
                <a:sym typeface="Wingdings" panose="05000000000000000000" pitchFamily="2" charset="2"/>
              </a:rPr>
              <a:t>3. Bei gerader Anzahl Samples  Median = Bei de Werte an mittlerer Stelle nehmen (bei uns an dritter und vierter stelle) zusammenzählen und dann durch 2 dividieren. </a:t>
            </a:r>
          </a:p>
          <a:p>
            <a:r>
              <a:rPr lang="de-CH" dirty="0"/>
              <a:t>Lösung: 14 (bei n = 5), 15 (bei n = 6)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74034C-D611-A083-F61F-82833778D4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194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37B0B4C-D557-99D7-3063-5ECCE028F03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8D0AD8-FC13-20BD-26E2-97881A017C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886532-BAA3-A6EC-2B4E-809E583D4D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19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7C27601-31B1-15CB-A241-98872883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Durchschnitt Berechnen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451FD0-40A8-F488-9CC5-83D510C4EF01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Datensatz: 37,14,2,68,5</a:t>
            </a:r>
          </a:p>
          <a:p>
            <a:r>
              <a:rPr lang="de-CH" dirty="0"/>
              <a:t>1. Alle Daten zusammenzählen </a:t>
            </a:r>
          </a:p>
          <a:p>
            <a:r>
              <a:rPr lang="de-CH" dirty="0"/>
              <a:t>2. Summe durch die Anzahl Samples dividieren</a:t>
            </a:r>
          </a:p>
          <a:p>
            <a:r>
              <a:rPr lang="de-CH" dirty="0"/>
              <a:t>Lösung: 25.2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3918B5-6F05-9A22-2C2B-3C471CCD78C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028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98B98DA-D91D-4ECB-A36E-A32CCC6E8D3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7E8B58-76F1-C34B-3144-0AA049403E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3E2AF-1A63-11BB-0FF9-4D4E183BAC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20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6C37E3D-78A0-F79D-F536-DA1137B3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638139"/>
            <a:ext cx="11053763" cy="684213"/>
          </a:xfrm>
        </p:spPr>
        <p:txBody>
          <a:bodyPr/>
          <a:lstStyle/>
          <a:p>
            <a:r>
              <a:rPr lang="de-CH" dirty="0"/>
              <a:t>Modus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9B19E6E-36FD-65A3-C3BB-60CA4C3D63AD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Datenset: </a:t>
            </a:r>
            <a:r>
              <a:rPr lang="de-CH" dirty="0" err="1"/>
              <a:t>Gut,Gut,Genügend,Ungenügend,Gut</a:t>
            </a:r>
            <a:endParaRPr lang="de-CH" dirty="0"/>
          </a:p>
          <a:p>
            <a:r>
              <a:rPr lang="de-CH" dirty="0"/>
              <a:t>1. Jede Kategorie zählen, wie oft das sie vorkommt</a:t>
            </a:r>
          </a:p>
          <a:p>
            <a:r>
              <a:rPr lang="de-CH" dirty="0"/>
              <a:t>2. Kategorie, die am häufigsten vorkommt entspricht dem Modus.</a:t>
            </a:r>
          </a:p>
          <a:p>
            <a:r>
              <a:rPr lang="de-CH" dirty="0"/>
              <a:t>Lösung: Gut</a:t>
            </a:r>
          </a:p>
        </p:txBody>
      </p:sp>
    </p:spTree>
    <p:extLst>
      <p:ext uri="{BB962C8B-B14F-4D97-AF65-F5344CB8AC3E}">
        <p14:creationId xmlns:p14="http://schemas.microsoft.com/office/powerpoint/2010/main" val="180782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03FDF6-3BF1-F5E6-5B1B-21842A3C01E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569A06-22F9-9428-6F89-8A8D06F963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73450C-C465-8CB0-EDAB-A0D7CE2D94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21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B1E9611-19FB-9821-7E0F-B987405D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Quartile</a:t>
            </a:r>
            <a:r>
              <a:rPr lang="de-CH" dirty="0"/>
              <a:t> berechnen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865E1EC-78BF-95A7-D9D2-96E942AB1FE8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2708826" y="1514049"/>
            <a:ext cx="6780698" cy="1340472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65D6CC3-DB3B-0B68-7872-D7AA4F8082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515980D-68B5-C2D9-873C-97D1F9ED12A2}"/>
                  </a:ext>
                </a:extLst>
              </p:cNvPr>
              <p:cNvSpPr txBox="1"/>
              <p:nvPr/>
            </p:nvSpPr>
            <p:spPr>
              <a:xfrm>
                <a:off x="709734" y="2992207"/>
                <a:ext cx="11053764" cy="3180912"/>
              </a:xfrm>
              <a:prstGeom prst="rect">
                <a:avLst/>
              </a:prstGeom>
              <a:noFill/>
            </p:spPr>
            <p:txBody>
              <a:bodyPr wrap="square" lIns="108000" tIns="36000" rIns="108000" bIns="108000" rtlCol="0">
                <a:normAutofit/>
              </a:bodyPr>
              <a:lstStyle/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𝑘</m:t>
                    </m:r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=</m:t>
                    </m:r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𝑝</m:t>
                    </m:r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 ∗(</m:t>
                    </m:r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𝑛</m:t>
                    </m:r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+1)</m:t>
                    </m:r>
                  </m:oMath>
                </a14:m>
                <a:endParaRPr lang="de-CH" sz="2000" dirty="0">
                  <a:ea typeface="Roboto Medium" panose="02000000000000000000" pitchFamily="2" charset="0"/>
                </a:endParaRP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</a:rPr>
                  <a:t>k = Stelle an dem sich das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quantil</a:t>
                </a:r>
                <a:r>
                  <a:rPr lang="de-CH" sz="2000" dirty="0">
                    <a:ea typeface="Roboto Medium" panose="02000000000000000000" pitchFamily="2" charset="0"/>
                  </a:rPr>
                  <a:t> befindet</a:t>
                </a: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</a:rPr>
                  <a:t>p =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Quantilanteil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bsp</a:t>
                </a:r>
                <a:r>
                  <a:rPr lang="de-CH" sz="2000" dirty="0">
                    <a:ea typeface="Roboto Medium" panose="02000000000000000000" pitchFamily="2" charset="0"/>
                  </a:rPr>
                  <a:t> (1. Quartil auch 25% Quantil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gennant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 0.25)</a:t>
                </a: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n = Anzahl Daten </a:t>
                </a: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endParaRPr lang="de-CH" sz="2000" dirty="0">
                  <a:ea typeface="Roboto Medium" panose="02000000000000000000" pitchFamily="2" charset="0"/>
                  <a:sym typeface="Wingdings" panose="05000000000000000000" pitchFamily="2" charset="2"/>
                </a:endParaRP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Lösung für erstes Quantil = 0.25 * (9+1) = 2.5  Interpolation durch 2. und 3. Wert ergibt:</a:t>
                </a: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10 * 0.5 + 14 * 0.5 = </a:t>
                </a:r>
                <a:r>
                  <a:rPr lang="de-CH" sz="2000" b="1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12</a:t>
                </a:r>
              </a:p>
              <a:p>
                <a:pPr algn="l">
                  <a:spcAft>
                    <a:spcPts val="600"/>
                  </a:spcAft>
                  <a:buClr>
                    <a:schemeClr val="tx2"/>
                  </a:buClr>
                </a:pPr>
                <a:r>
                  <a:rPr lang="de-CH" sz="2000" dirty="0">
                    <a:ea typeface="Roboto Medium" panose="02000000000000000000" pitchFamily="2" charset="0"/>
                    <a:sym typeface="Wingdings" panose="05000000000000000000" pitchFamily="2" charset="2"/>
                  </a:rPr>
                  <a:t>Was wäre die Lösung wenn n = 10?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515980D-68B5-C2D9-873C-97D1F9ED1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34" y="2992207"/>
                <a:ext cx="11053764" cy="3180912"/>
              </a:xfrm>
              <a:prstGeom prst="rect">
                <a:avLst/>
              </a:prstGeom>
              <a:blipFill>
                <a:blip r:embed="rId3"/>
                <a:stretch>
                  <a:fillRect l="-386" t="-575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8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0F51CA-2AE7-EF13-CEED-82CADBDBBA2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41E4D3-EFE1-063A-D9D3-AF06652CD7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8BF25C-0AC3-B3CA-3656-AE67985038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22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78CECA9-230C-B24C-6CE5-F2C2FF99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Quartile</a:t>
            </a:r>
            <a:r>
              <a:rPr lang="de-CH" dirty="0"/>
              <a:t> berechnen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2E1BEA-509C-36EE-3782-20695106C75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Lösung für erstes Quantil = 0.25 * (10+1) = 2.75  Interpolation durch 2. und 3. Wert ergibt:</a:t>
            </a:r>
            <a:b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</a:b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10 * 0.25 + 14 * 0.75 = </a:t>
            </a:r>
            <a:r>
              <a:rPr lang="de-CH" b="1" dirty="0">
                <a:ea typeface="Roboto Medium" panose="02000000000000000000" pitchFamily="2" charset="0"/>
                <a:sym typeface="Wingdings" panose="05000000000000000000" pitchFamily="2" charset="2"/>
              </a:rPr>
              <a:t>13</a:t>
            </a:r>
            <a:endParaRPr lang="de-CH" sz="2000" b="1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endParaRPr lang="de-CH" dirty="0"/>
          </a:p>
          <a:p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B19B69F-635C-CB83-9A6D-456EE1D773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9205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2407D6-94FA-8A05-113B-690244373CE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446F60-16CC-6E1D-A29A-8B44DA7528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C83566-21E9-277D-9395-64CE67BCD4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23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CB46770-0C80-C1E5-CECA-B985CBCB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Five </a:t>
            </a:r>
            <a:r>
              <a:rPr lang="de-CH" dirty="0" err="1"/>
              <a:t>Number</a:t>
            </a:r>
            <a:r>
              <a:rPr lang="de-CH" dirty="0"/>
              <a:t> Summary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08F7267-C917-B833-51BC-CB0BA421028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2B7B7440-9A4D-8D00-DA2E-04E5FE9C28E0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2622826" y="1713363"/>
            <a:ext cx="7421011" cy="1467055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BCBA5B5-5A92-6729-6BF1-915C5C869AA4}"/>
              </a:ext>
            </a:extLst>
          </p:cNvPr>
          <p:cNvSpPr txBox="1"/>
          <p:nvPr/>
        </p:nvSpPr>
        <p:spPr>
          <a:xfrm>
            <a:off x="806449" y="2984938"/>
            <a:ext cx="11053764" cy="31809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 lnSpcReduction="10000"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Five </a:t>
            </a:r>
            <a:r>
              <a:rPr lang="de-CH" sz="2000" dirty="0" err="1">
                <a:ea typeface="Roboto Medium" panose="02000000000000000000" pitchFamily="2" charset="0"/>
              </a:rPr>
              <a:t>Number</a:t>
            </a:r>
            <a:r>
              <a:rPr lang="de-CH" sz="2000" dirty="0">
                <a:ea typeface="Roboto Medium" panose="02000000000000000000" pitchFamily="2" charset="0"/>
              </a:rPr>
              <a:t> Summary besteht aus: Minimum, Q1, Median, Q3, Maximum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Wie lautet die Five </a:t>
            </a:r>
            <a:r>
              <a:rPr lang="de-CH" sz="2000" dirty="0" err="1">
                <a:ea typeface="Roboto Medium" panose="02000000000000000000" pitchFamily="2" charset="0"/>
              </a:rPr>
              <a:t>Number</a:t>
            </a:r>
            <a:r>
              <a:rPr lang="de-CH" sz="2000" dirty="0">
                <a:ea typeface="Roboto Medium" panose="02000000000000000000" pitchFamily="2" charset="0"/>
              </a:rPr>
              <a:t> Summary für gegebenen Datensatz?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Minimum: 9</a:t>
            </a: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>
                <a:ea typeface="Roboto Medium" panose="02000000000000000000" pitchFamily="2" charset="0"/>
              </a:rPr>
              <a:t>Q1: 12</a:t>
            </a: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>
                <a:ea typeface="Roboto Medium" panose="02000000000000000000" pitchFamily="2" charset="0"/>
              </a:rPr>
              <a:t>Median: 23</a:t>
            </a: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>
                <a:ea typeface="Roboto Medium" panose="02000000000000000000" pitchFamily="2" charset="0"/>
              </a:rPr>
              <a:t>Q3: 26</a:t>
            </a: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>
                <a:ea typeface="Roboto Medium" panose="02000000000000000000" pitchFamily="2" charset="0"/>
              </a:rPr>
              <a:t>Maximum: 29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endParaRPr lang="de-CH" sz="2000" dirty="0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64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ECB18B-E6BA-193E-6DE6-E0C1B7C6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4464" y="6453187"/>
            <a:ext cx="3376650" cy="1793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EF1DF5-0ECC-49CA-8174-9E0B95742C2E}" type="datetime4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24. April 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B7E1F1-8502-B16E-AC80-EEB6107F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450" y="6454846"/>
            <a:ext cx="5364163" cy="2369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CH"/>
              <a:t>Titel ändern: Menü 'Einfügen'&gt;'Kopf- und Fusszeile'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5A2876-E362-7C6B-4893-1D2B03B3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8996" y="6453187"/>
            <a:ext cx="537454" cy="179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EAC321B-7500-4259-A00F-915439A35E15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endParaRPr lang="de-CH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1C75198-8BB1-362F-BC47-C477402F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 anchor="ctr">
            <a:normAutofit/>
          </a:bodyPr>
          <a:lstStyle/>
          <a:p>
            <a:r>
              <a:rPr lang="de-CH" dirty="0"/>
              <a:t>Boxplot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0B4DDE5-7CBE-D9B7-C135-52236FB571F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449" y="334039"/>
            <a:ext cx="11053764" cy="286673"/>
          </a:xfrm>
        </p:spPr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427922C-3EE8-1ED7-243A-6DFFE099D094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806450" y="2638261"/>
            <a:ext cx="5364163" cy="2373641"/>
          </a:xfrm>
          <a:noFill/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688281AF-FB78-0E70-0AF3-53B161D0A49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496050" y="1449388"/>
            <a:ext cx="5364163" cy="4751387"/>
          </a:xfrm>
        </p:spPr>
        <p:txBody>
          <a:bodyPr/>
          <a:lstStyle/>
          <a:p>
            <a:r>
              <a:rPr lang="en-US" dirty="0"/>
              <a:t>Whiskers </a:t>
            </a:r>
            <a:r>
              <a:rPr lang="en-US" dirty="0" err="1"/>
              <a:t>befinden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1./3 </a:t>
            </a:r>
            <a:r>
              <a:rPr lang="en-US" dirty="0" err="1"/>
              <a:t>Quartil</a:t>
            </a:r>
            <a:r>
              <a:rPr lang="en-US" dirty="0"/>
              <a:t> –+ 1.5 * </a:t>
            </a:r>
            <a:r>
              <a:rPr lang="en-US" dirty="0" err="1"/>
              <a:t>Interquartilsabstand</a:t>
            </a:r>
            <a:r>
              <a:rPr lang="en-US" dirty="0"/>
              <a:t>.</a:t>
            </a:r>
          </a:p>
          <a:p>
            <a:r>
              <a:rPr lang="en-US" dirty="0"/>
              <a:t>T Form </a:t>
            </a:r>
            <a:r>
              <a:rPr lang="en-US" dirty="0" err="1"/>
              <a:t>befindet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beim</a:t>
            </a:r>
            <a:r>
              <a:rPr lang="en-US" dirty="0"/>
              <a:t> </a:t>
            </a:r>
            <a:r>
              <a:rPr lang="en-US" dirty="0" err="1"/>
              <a:t>letzten</a:t>
            </a:r>
            <a:r>
              <a:rPr lang="en-US" dirty="0"/>
              <a:t> Wert der </a:t>
            </a:r>
            <a:r>
              <a:rPr lang="en-US" dirty="0" err="1"/>
              <a:t>innerhalb</a:t>
            </a:r>
            <a:r>
              <a:rPr lang="en-US" dirty="0"/>
              <a:t> der </a:t>
            </a:r>
            <a:r>
              <a:rPr lang="en-US" dirty="0" err="1"/>
              <a:t>Grenze</a:t>
            </a:r>
            <a:r>
              <a:rPr lang="en-US" dirty="0"/>
              <a:t> </a:t>
            </a:r>
            <a:r>
              <a:rPr lang="en-US" dirty="0" err="1"/>
              <a:t>stattfindet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88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38BE34-02C0-9179-8488-BB20FABC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AD21A-6E20-4E2B-AEDB-7088F015233B}" type="datetime4">
              <a:rPr lang="de-CH" smtClean="0"/>
              <a:t>24. April 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C48B8D-C3EB-0C1B-A1A9-6E8DD466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895D8E-AF8A-EC58-CBB8-E0030B33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25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A3E7424-D382-0475-1B7F-83C30CDA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Boxplot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6530E41-BB10-B166-0602-3DEB14D2C71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8061C0B-EA38-5DB5-33C6-37B1CCCF0264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3523064" y="3029633"/>
            <a:ext cx="5620534" cy="1590897"/>
          </a:xfrm>
        </p:spPr>
      </p:pic>
    </p:spTree>
    <p:extLst>
      <p:ext uri="{BB962C8B-B14F-4D97-AF65-F5344CB8AC3E}">
        <p14:creationId xmlns:p14="http://schemas.microsoft.com/office/powerpoint/2010/main" val="3233770282"/>
      </p:ext>
    </p:extLst>
  </p:cSld>
  <p:clrMapOvr>
    <a:masterClrMapping/>
  </p:clrMapOvr>
</p:sld>
</file>

<file path=ppt/theme/theme1.xml><?xml version="1.0" encoding="utf-8"?>
<a:theme xmlns:a="http://schemas.openxmlformats.org/drawingml/2006/main" name="OST-Vorlage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_Vorlage_DE_16zu9_2024_mit-WOWIWI.potx" id="{D5D41452-13A2-4797-9C0E-2CCD24EB9B96}" vid="{7FD27EA7-EB93-48E0-9F5B-FDE1794AA21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02C9BA7D31A54D8D49C57462F6F49F" ma:contentTypeVersion="6" ma:contentTypeDescription="Ein neues Dokument erstellen." ma:contentTypeScope="" ma:versionID="e8b94cb0416698a1f05b87ee0f9e1c61">
  <xsd:schema xmlns:xsd="http://www.w3.org/2001/XMLSchema" xmlns:xs="http://www.w3.org/2001/XMLSchema" xmlns:p="http://schemas.microsoft.com/office/2006/metadata/properties" xmlns:ns2="836fdef4-d323-4728-b9c8-db1b2ba3eb44" xmlns:ns3="f32a0372-9749-4d12-8c96-d2a077a726c4" targetNamespace="http://schemas.microsoft.com/office/2006/metadata/properties" ma:root="true" ma:fieldsID="2d3b3aa0cd091d96c0c25976daaaeb10" ns2:_="" ns3:_="">
    <xsd:import namespace="836fdef4-d323-4728-b9c8-db1b2ba3eb44"/>
    <xsd:import namespace="f32a0372-9749-4d12-8c96-d2a077a726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fdef4-d323-4728-b9c8-db1b2ba3e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a0372-9749-4d12-8c96-d2a077a726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DD79DD-F50A-4495-9D66-10BF7989B6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876913-4CC8-4A47-87C7-6724FA3749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B6A51F-69DA-44DA-B7BC-D0736344C8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fdef4-d323-4728-b9c8-db1b2ba3eb44"/>
    <ds:schemaRef ds:uri="f32a0372-9749-4d12-8c96-d2a077a726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OST_Vorlage_DE_16zu9_2024_mit-WOWIWI</Template>
  <TotalTime>0</TotalTime>
  <Words>1102</Words>
  <Application>Microsoft Office PowerPoint</Application>
  <PresentationFormat>Benutzerdefiniert</PresentationFormat>
  <Paragraphs>182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2" baseType="lpstr">
      <vt:lpstr>Arial</vt:lpstr>
      <vt:lpstr>Cambria Math</vt:lpstr>
      <vt:lpstr>Roboto</vt:lpstr>
      <vt:lpstr>Roboto Medium</vt:lpstr>
      <vt:lpstr>Symbol</vt:lpstr>
      <vt:lpstr>Wingdings</vt:lpstr>
      <vt:lpstr>OST-Vorlage</vt:lpstr>
      <vt:lpstr>Introduction and Preprocessing(1) Exercises </vt:lpstr>
      <vt:lpstr>Agenda</vt:lpstr>
      <vt:lpstr>Business Understanding</vt:lpstr>
      <vt:lpstr>Data understanding</vt:lpstr>
      <vt:lpstr>Data Preparation</vt:lpstr>
      <vt:lpstr>Modeling</vt:lpstr>
      <vt:lpstr>Evaluation</vt:lpstr>
      <vt:lpstr>Deployment</vt:lpstr>
      <vt:lpstr>Was fällt auf bei folgender Statistik?</vt:lpstr>
      <vt:lpstr>Zeitaufwand im Data Mining</vt:lpstr>
      <vt:lpstr>Association</vt:lpstr>
      <vt:lpstr>Classification</vt:lpstr>
      <vt:lpstr>Clustering</vt:lpstr>
      <vt:lpstr>Regression</vt:lpstr>
      <vt:lpstr>Was für Fehler findet ihr in den Daten?</vt:lpstr>
      <vt:lpstr>Was für Fehler findet ihr in den Daten?</vt:lpstr>
      <vt:lpstr>Verschiedene Skalen</vt:lpstr>
      <vt:lpstr>Median berechnen </vt:lpstr>
      <vt:lpstr>Durchschnitt Berechnen</vt:lpstr>
      <vt:lpstr>Modus</vt:lpstr>
      <vt:lpstr>Quartile berechnen</vt:lpstr>
      <vt:lpstr>Quartile berechnen</vt:lpstr>
      <vt:lpstr>Five Number Summary</vt:lpstr>
      <vt:lpstr>Boxplot</vt:lpstr>
      <vt:lpstr>Boxplot</vt:lpstr>
    </vt:vector>
  </TitlesOfParts>
  <Company>OST Ostschweizer Fachhochschule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Pfister</dc:creator>
  <cp:lastModifiedBy>Kevin Pfister</cp:lastModifiedBy>
  <cp:revision>1</cp:revision>
  <cp:lastPrinted>2019-10-30T10:24:00Z</cp:lastPrinted>
  <dcterms:created xsi:type="dcterms:W3CDTF">2025-04-24T07:24:17Z</dcterms:created>
  <dcterms:modified xsi:type="dcterms:W3CDTF">2025-04-24T07:31:26Z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0x0101002902C9BA7D31A54D8D49C57462F6F49F</vt:lpwstr>
  </property>
</Properties>
</file>