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2" r:id="rId4"/>
  </p:sldMasterIdLst>
  <p:notesMasterIdLst>
    <p:notesMasterId r:id="rId29"/>
  </p:notesMasterIdLst>
  <p:handoutMasterIdLst>
    <p:handoutMasterId r:id="rId30"/>
  </p:handoutMasterIdLst>
  <p:sldIdLst>
    <p:sldId id="288" r:id="rId5"/>
    <p:sldId id="308" r:id="rId6"/>
    <p:sldId id="309" r:id="rId7"/>
    <p:sldId id="310" r:id="rId8"/>
    <p:sldId id="311" r:id="rId9"/>
    <p:sldId id="312" r:id="rId10"/>
    <p:sldId id="314" r:id="rId11"/>
    <p:sldId id="313" r:id="rId12"/>
    <p:sldId id="315" r:id="rId13"/>
    <p:sldId id="316" r:id="rId14"/>
    <p:sldId id="317" r:id="rId15"/>
    <p:sldId id="292" r:id="rId16"/>
    <p:sldId id="293" r:id="rId17"/>
    <p:sldId id="294" r:id="rId18"/>
    <p:sldId id="295" r:id="rId19"/>
    <p:sldId id="296" r:id="rId20"/>
    <p:sldId id="298" r:id="rId21"/>
    <p:sldId id="299" r:id="rId22"/>
    <p:sldId id="301" r:id="rId23"/>
    <p:sldId id="303" r:id="rId24"/>
    <p:sldId id="305" r:id="rId25"/>
    <p:sldId id="453" r:id="rId26"/>
    <p:sldId id="454" r:id="rId27"/>
    <p:sldId id="455" r:id="rId28"/>
  </p:sldIdLst>
  <p:sldSz cx="12198350" cy="6858000"/>
  <p:notesSz cx="6858000" cy="9144000"/>
  <p:defaultTextStyle>
    <a:defPPr>
      <a:defRPr lang="de-DE"/>
    </a:defPPr>
    <a:lvl1pPr marL="0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768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535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9303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9071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838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8606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8373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8141" algn="l" defTabSz="609768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D79797-AFE8-4B3F-8522-7013F65A617A}" v="13" dt="2025-05-08T09:46:34.933"/>
  </p1510:revLst>
</p1510:revInfo>
</file>

<file path=ppt/tableStyles.xml><?xml version="1.0" encoding="utf-8"?>
<a:tblStyleLst xmlns:a="http://schemas.openxmlformats.org/drawingml/2006/main" def="{CA20E951-F767-40FB-8981-BDCADE0C3650}">
  <a:tblStyle styleId="{CA20E951-F767-40FB-8981-BDCADE0C3650}" styleName="OST Tabelle">
    <a:wholeTbl>
      <a:tcTxStyle>
        <a:fontRef idx="minor">
          <a:prstClr val="black"/>
        </a:fontRef>
        <a:schemeClr val="dk1"/>
      </a:tcTxStyle>
      <a:tcStyle>
        <a:tcBdr>
          <a:left>
            <a:ln w="28575" cmpd="sng">
              <a:solidFill>
                <a:srgbClr val="56276D"/>
              </a:solidFill>
            </a:ln>
          </a:left>
          <a:right>
            <a:ln w="28575" cmpd="sng">
              <a:solidFill>
                <a:srgbClr val="56276D"/>
              </a:solidFill>
            </a:ln>
          </a:right>
          <a:top>
            <a:ln w="28575" cmpd="sng">
              <a:solidFill>
                <a:srgbClr val="56276D"/>
              </a:solidFill>
            </a:ln>
          </a:top>
          <a:bottom>
            <a:ln w="28575" cmpd="sng">
              <a:solidFill>
                <a:srgbClr val="56276D"/>
              </a:solidFill>
            </a:ln>
          </a:bottom>
          <a:insideH>
            <a:ln w="28575" cmpd="sng">
              <a:solidFill>
                <a:srgbClr val="56276D"/>
              </a:solidFill>
            </a:ln>
          </a:insideH>
          <a:insideV>
            <a:ln w="28575" cmpd="sng">
              <a:solidFill>
                <a:srgbClr val="56276D"/>
              </a:solidFill>
            </a:ln>
          </a:insideV>
        </a:tcBdr>
        <a:fill>
          <a:noFill/>
        </a:fill>
      </a:tcStyle>
    </a:wholeTbl>
    <a:firstCol>
      <a:tcTxStyle b="on">
        <a:fontRef idx="minor"/>
        <a:srgbClr val="000000"/>
      </a:tcTxStyle>
      <a:tcStyle>
        <a:tcBdr/>
        <a:fill>
          <a:noFill/>
        </a:fill>
      </a:tcStyle>
    </a:firstCol>
    <a:firstRow>
      <a:tcTxStyle b="on">
        <a:fontRef idx="minor"/>
        <a:srgbClr val="000000"/>
      </a:tcTxStyle>
      <a:tcStyle>
        <a:tcBdr/>
        <a:fill>
          <a:noFill/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8" autoAdjust="0"/>
    <p:restoredTop sz="97459" autoAdjust="0"/>
  </p:normalViewPr>
  <p:slideViewPr>
    <p:cSldViewPr snapToGrid="0" snapToObjects="1">
      <p:cViewPr varScale="1">
        <p:scale>
          <a:sx n="159" d="100"/>
          <a:sy n="159" d="100"/>
        </p:scale>
        <p:origin x="2622" y="132"/>
      </p:cViewPr>
      <p:guideLst/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</p:sldLst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101" d="100"/>
          <a:sy n="101" d="100"/>
        </p:scale>
        <p:origin x="3533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_rels/viewProps.xml.rels><?xml version="1.0" encoding="UTF-8" standalone="yes"?>
<Relationships xmlns="http://schemas.openxmlformats.org/package/2006/relationships"><Relationship Id="rId2" Type="http://schemas.openxmlformats.org/officeDocument/2006/relationships/slide" Target="slides/slide12.xml"/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98E594-98F6-3A40-9CB1-890EFD882430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EA8F55-2519-6F41-91E3-24F0254F6FF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30589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berschrift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8DA80C-0032-A04F-8DC3-1D9FA424B670}" type="datetimeFigureOut">
              <a:rPr lang="de-DE" smtClean="0"/>
              <a:t>06.05.2026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5800"/>
            <a:ext cx="60991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D8BABC-F464-1C42-81DA-2E65C84DE5DA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40025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b="1" dirty="0" err="1"/>
              <a:t>Discussion</a:t>
            </a:r>
            <a:r>
              <a:rPr lang="de-CH" b="1" dirty="0"/>
              <a:t>:</a:t>
            </a:r>
            <a:r>
              <a:rPr lang="de-CH" b="1" baseline="0" dirty="0"/>
              <a:t> </a:t>
            </a:r>
            <a:r>
              <a:rPr lang="de-CH" b="1" baseline="0" dirty="0" err="1"/>
              <a:t>Whats</a:t>
            </a:r>
            <a:r>
              <a:rPr lang="de-CH" b="1" baseline="0" dirty="0"/>
              <a:t> a </a:t>
            </a:r>
            <a:r>
              <a:rPr lang="de-CH" b="1" baseline="0" dirty="0" err="1"/>
              <a:t>goos</a:t>
            </a:r>
            <a:r>
              <a:rPr lang="de-CH" b="1" baseline="0" dirty="0"/>
              <a:t> </a:t>
            </a:r>
            <a:r>
              <a:rPr lang="de-CH" b="1" baseline="0" dirty="0" err="1"/>
              <a:t>size</a:t>
            </a:r>
            <a:r>
              <a:rPr lang="de-CH" b="1" baseline="0" dirty="0"/>
              <a:t> s </a:t>
            </a:r>
            <a:r>
              <a:rPr lang="de-CH" b="1" baseline="0" dirty="0" err="1"/>
              <a:t>for</a:t>
            </a:r>
            <a:r>
              <a:rPr lang="de-CH" b="1" baseline="0" dirty="0"/>
              <a:t> a sample?</a:t>
            </a:r>
          </a:p>
          <a:p>
            <a:r>
              <a:rPr lang="de-CH" b="0" baseline="0" dirty="0" err="1"/>
              <a:t>For</a:t>
            </a:r>
            <a:r>
              <a:rPr lang="de-CH" b="0" baseline="0" dirty="0"/>
              <a:t> a </a:t>
            </a:r>
            <a:r>
              <a:rPr lang="de-CH" b="0" u="sng" baseline="0" dirty="0" err="1"/>
              <a:t>given</a:t>
            </a:r>
            <a:r>
              <a:rPr lang="de-CH" b="0" u="sng" baseline="0" dirty="0"/>
              <a:t> </a:t>
            </a:r>
            <a:r>
              <a:rPr lang="de-CH" b="0" u="sng" baseline="0" dirty="0" err="1"/>
              <a:t>function</a:t>
            </a:r>
            <a:r>
              <a:rPr lang="de-CH" b="0" u="sng" baseline="0" dirty="0"/>
              <a:t> </a:t>
            </a:r>
            <a:r>
              <a:rPr lang="de-CH" b="0" u="sng" baseline="0" dirty="0" err="1"/>
              <a:t>and</a:t>
            </a:r>
            <a:r>
              <a:rPr lang="de-CH" b="0" u="sng" baseline="0" dirty="0"/>
              <a:t> a </a:t>
            </a:r>
            <a:r>
              <a:rPr lang="de-CH" b="0" u="sng" baseline="0" dirty="0" err="1"/>
              <a:t>specified</a:t>
            </a:r>
            <a:r>
              <a:rPr lang="de-CH" b="0" u="sng" baseline="0" dirty="0"/>
              <a:t> </a:t>
            </a:r>
            <a:r>
              <a:rPr lang="de-CH" b="0" u="sng" baseline="0" dirty="0" err="1"/>
              <a:t>degree</a:t>
            </a:r>
            <a:r>
              <a:rPr lang="de-CH" b="0" u="sng" baseline="0" dirty="0"/>
              <a:t> </a:t>
            </a:r>
            <a:r>
              <a:rPr lang="de-CH" b="0" u="sng" baseline="0" dirty="0" err="1"/>
              <a:t>of</a:t>
            </a:r>
            <a:r>
              <a:rPr lang="de-CH" b="0" u="sng" baseline="0" dirty="0"/>
              <a:t> </a:t>
            </a:r>
            <a:r>
              <a:rPr lang="de-CH" b="0" u="sng" baseline="0" dirty="0" err="1"/>
              <a:t>error</a:t>
            </a:r>
            <a:r>
              <a:rPr lang="de-CH" b="0" u="sng" baseline="0" dirty="0"/>
              <a:t> </a:t>
            </a:r>
            <a:r>
              <a:rPr lang="de-CH" b="0" baseline="0" dirty="0" err="1"/>
              <a:t>it</a:t>
            </a:r>
            <a:r>
              <a:rPr lang="de-CH" b="0" baseline="0" dirty="0"/>
              <a:t> </a:t>
            </a:r>
            <a:r>
              <a:rPr lang="de-CH" b="0" baseline="0" dirty="0" err="1"/>
              <a:t>is</a:t>
            </a:r>
            <a:r>
              <a:rPr lang="de-CH" b="0" baseline="0" dirty="0"/>
              <a:t> </a:t>
            </a:r>
            <a:r>
              <a:rPr lang="de-CH" b="0" baseline="0" dirty="0" err="1"/>
              <a:t>possible</a:t>
            </a:r>
            <a:r>
              <a:rPr lang="de-CH" b="0" baseline="0" dirty="0"/>
              <a:t> </a:t>
            </a:r>
            <a:r>
              <a:rPr lang="de-CH" b="0" baseline="0" dirty="0" err="1"/>
              <a:t>to</a:t>
            </a:r>
            <a:r>
              <a:rPr lang="de-CH" b="0" baseline="0" dirty="0"/>
              <a:t> </a:t>
            </a:r>
            <a:r>
              <a:rPr lang="de-CH" b="0" baseline="0" dirty="0" err="1"/>
              <a:t>determine</a:t>
            </a:r>
            <a:r>
              <a:rPr lang="de-CH" b="0" baseline="0" dirty="0"/>
              <a:t> a </a:t>
            </a:r>
            <a:r>
              <a:rPr lang="de-CH" b="0" baseline="0" dirty="0" err="1"/>
              <a:t>sufficient</a:t>
            </a:r>
            <a:r>
              <a:rPr lang="de-CH" b="0" baseline="0" dirty="0"/>
              <a:t> sample </a:t>
            </a:r>
            <a:r>
              <a:rPr lang="de-CH" b="0" baseline="0" dirty="0" err="1"/>
              <a:t>size</a:t>
            </a:r>
            <a:r>
              <a:rPr lang="de-CH" b="0" baseline="0" dirty="0"/>
              <a:t> (</a:t>
            </a:r>
            <a:r>
              <a:rPr lang="de-CH" b="0" baseline="0" dirty="0" err="1"/>
              <a:t>using</a:t>
            </a:r>
            <a:r>
              <a:rPr lang="de-CH" b="0" baseline="0" dirty="0"/>
              <a:t> </a:t>
            </a:r>
            <a:r>
              <a:rPr lang="de-CH" b="0" baseline="0" dirty="0" err="1"/>
              <a:t>the</a:t>
            </a:r>
            <a:r>
              <a:rPr lang="de-CH" b="0" baseline="0" dirty="0"/>
              <a:t> </a:t>
            </a:r>
            <a:r>
              <a:rPr lang="de-CH" b="0" baseline="0" dirty="0" err="1"/>
              <a:t>central</a:t>
            </a:r>
            <a:r>
              <a:rPr lang="de-CH" b="0" baseline="0" dirty="0"/>
              <a:t> </a:t>
            </a:r>
            <a:r>
              <a:rPr lang="de-CH" b="0" baseline="0" dirty="0" err="1"/>
              <a:t>limit</a:t>
            </a:r>
            <a:r>
              <a:rPr lang="de-CH" b="0" baseline="0" dirty="0"/>
              <a:t> </a:t>
            </a:r>
            <a:r>
              <a:rPr lang="de-CH" b="0" baseline="0" dirty="0" err="1"/>
              <a:t>theorem</a:t>
            </a:r>
            <a:r>
              <a:rPr lang="de-CH" b="0" baseline="0" dirty="0"/>
              <a:t>)</a:t>
            </a:r>
            <a:endParaRPr lang="de-CH" b="0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30F1662-E304-472D-9055-62419893CD52}" type="slidenum">
              <a:rPr lang="de-CH" smtClean="0"/>
              <a:pPr/>
              <a:t>22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78491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elfolie mit Bildmask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 userDrawn="1"/>
        </p:nvSpPr>
        <p:spPr>
          <a:xfrm>
            <a:off x="1" y="0"/>
            <a:ext cx="12198350" cy="6858000"/>
          </a:xfrm>
          <a:prstGeom prst="rect">
            <a:avLst/>
          </a:prstGeom>
          <a:solidFill>
            <a:schemeClr val="tx1">
              <a:alpha val="1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1" name="Freihandform 20"/>
          <p:cNvSpPr/>
          <p:nvPr/>
        </p:nvSpPr>
        <p:spPr>
          <a:xfrm>
            <a:off x="3975404" y="679931"/>
            <a:ext cx="8222947" cy="6187327"/>
          </a:xfrm>
          <a:custGeom>
            <a:avLst/>
            <a:gdLst>
              <a:gd name="connsiteX0" fmla="*/ 5924544 w 8222947"/>
              <a:gd name="connsiteY0" fmla="*/ 885 h 6187327"/>
              <a:gd name="connsiteX1" fmla="*/ 6308590 w 8222947"/>
              <a:gd name="connsiteY1" fmla="*/ 41571 h 6187327"/>
              <a:gd name="connsiteX2" fmla="*/ 8006972 w 8222947"/>
              <a:gd name="connsiteY2" fmla="*/ 1782211 h 6187327"/>
              <a:gd name="connsiteX3" fmla="*/ 8214187 w 8222947"/>
              <a:gd name="connsiteY3" fmla="*/ 2329511 h 6187327"/>
              <a:gd name="connsiteX4" fmla="*/ 8222947 w 8222947"/>
              <a:gd name="connsiteY4" fmla="*/ 2362752 h 6187327"/>
              <a:gd name="connsiteX5" fmla="*/ 8222947 w 8222947"/>
              <a:gd name="connsiteY5" fmla="*/ 4688892 h 6187327"/>
              <a:gd name="connsiteX6" fmla="*/ 8207914 w 8222947"/>
              <a:gd name="connsiteY6" fmla="*/ 4742881 h 6187327"/>
              <a:gd name="connsiteX7" fmla="*/ 7556423 w 8222947"/>
              <a:gd name="connsiteY7" fmla="*/ 6028617 h 6187327"/>
              <a:gd name="connsiteX8" fmla="*/ 7425161 w 8222947"/>
              <a:gd name="connsiteY8" fmla="*/ 6187327 h 6187327"/>
              <a:gd name="connsiteX9" fmla="*/ 1006577 w 8222947"/>
              <a:gd name="connsiteY9" fmla="*/ 6187327 h 6187327"/>
              <a:gd name="connsiteX10" fmla="*/ 850964 w 8222947"/>
              <a:gd name="connsiteY10" fmla="*/ 5995980 h 6187327"/>
              <a:gd name="connsiteX11" fmla="*/ 422250 w 8222947"/>
              <a:gd name="connsiteY11" fmla="*/ 5267019 h 6187327"/>
              <a:gd name="connsiteX12" fmla="*/ 142610 w 8222947"/>
              <a:gd name="connsiteY12" fmla="*/ 2830055 h 6187327"/>
              <a:gd name="connsiteX13" fmla="*/ 3539677 w 8222947"/>
              <a:gd name="connsiteY13" fmla="*/ 2265216 h 6187327"/>
              <a:gd name="connsiteX14" fmla="*/ 5924544 w 8222947"/>
              <a:gd name="connsiteY14" fmla="*/ 885 h 61873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8222947" h="6187327">
                <a:moveTo>
                  <a:pt x="5924544" y="885"/>
                </a:moveTo>
                <a:cubicBezTo>
                  <a:pt x="6041007" y="-3625"/>
                  <a:pt x="6168271" y="8957"/>
                  <a:pt x="6308590" y="41571"/>
                </a:cubicBezTo>
                <a:cubicBezTo>
                  <a:pt x="6952725" y="190142"/>
                  <a:pt x="7634399" y="972436"/>
                  <a:pt x="8006972" y="1782211"/>
                </a:cubicBezTo>
                <a:cubicBezTo>
                  <a:pt x="8089782" y="1962218"/>
                  <a:pt x="8158705" y="2145053"/>
                  <a:pt x="8214187" y="2329511"/>
                </a:cubicBezTo>
                <a:lnTo>
                  <a:pt x="8222947" y="2362752"/>
                </a:lnTo>
                <a:lnTo>
                  <a:pt x="8222947" y="4688892"/>
                </a:lnTo>
                <a:lnTo>
                  <a:pt x="8207914" y="4742881"/>
                </a:lnTo>
                <a:cubicBezTo>
                  <a:pt x="8067235" y="5203851"/>
                  <a:pt x="7847382" y="5639692"/>
                  <a:pt x="7556423" y="6028617"/>
                </a:cubicBezTo>
                <a:lnTo>
                  <a:pt x="7425161" y="6187327"/>
                </a:lnTo>
                <a:lnTo>
                  <a:pt x="1006577" y="6187327"/>
                </a:lnTo>
                <a:lnTo>
                  <a:pt x="850964" y="5995980"/>
                </a:lnTo>
                <a:cubicBezTo>
                  <a:pt x="686863" y="5772304"/>
                  <a:pt x="542722" y="5528860"/>
                  <a:pt x="422250" y="5267019"/>
                </a:cubicBezTo>
                <a:cubicBezTo>
                  <a:pt x="50312" y="4458802"/>
                  <a:pt x="-155418" y="3502075"/>
                  <a:pt x="142610" y="2830055"/>
                </a:cubicBezTo>
                <a:cubicBezTo>
                  <a:pt x="788131" y="1375996"/>
                  <a:pt x="2271479" y="2908304"/>
                  <a:pt x="3539677" y="2265216"/>
                </a:cubicBezTo>
                <a:cubicBezTo>
                  <a:pt x="4682264" y="1685095"/>
                  <a:pt x="4798738" y="44473"/>
                  <a:pt x="5924544" y="885"/>
                </a:cubicBezTo>
                <a:close/>
              </a:path>
            </a:pathLst>
          </a:custGeom>
          <a:solidFill>
            <a:schemeClr val="bg1">
              <a:alpha val="80000"/>
            </a:schemeClr>
          </a:solidFill>
          <a:ln w="28575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en-US" sz="1400" noProof="0" dirty="0">
              <a:solidFill>
                <a:schemeClr val="tx1"/>
              </a:solidFill>
            </a:endParaRPr>
          </a:p>
        </p:txBody>
      </p:sp>
      <p:sp>
        <p:nvSpPr>
          <p:cNvPr id="12" name="Freihandform 11"/>
          <p:cNvSpPr/>
          <p:nvPr/>
        </p:nvSpPr>
        <p:spPr>
          <a:xfrm>
            <a:off x="5642407" y="1910668"/>
            <a:ext cx="6555944" cy="4947333"/>
          </a:xfrm>
          <a:custGeom>
            <a:avLst/>
            <a:gdLst>
              <a:gd name="connsiteX0" fmla="*/ 4854063 w 6552531"/>
              <a:gd name="connsiteY0" fmla="*/ 7 h 4947333"/>
              <a:gd name="connsiteX1" fmla="*/ 5071206 w 6552531"/>
              <a:gd name="connsiteY1" fmla="*/ 27731 h 4947333"/>
              <a:gd name="connsiteX2" fmla="*/ 6551503 w 6552531"/>
              <a:gd name="connsiteY2" fmla="*/ 1809287 h 4947333"/>
              <a:gd name="connsiteX3" fmla="*/ 6552531 w 6552531"/>
              <a:gd name="connsiteY3" fmla="*/ 1812764 h 4947333"/>
              <a:gd name="connsiteX4" fmla="*/ 6552531 w 6552531"/>
              <a:gd name="connsiteY4" fmla="*/ 3922236 h 4947333"/>
              <a:gd name="connsiteX5" fmla="*/ 6508354 w 6552531"/>
              <a:gd name="connsiteY5" fmla="*/ 4056281 h 4947333"/>
              <a:gd name="connsiteX6" fmla="*/ 6167266 w 6552531"/>
              <a:gd name="connsiteY6" fmla="*/ 4753897 h 4947333"/>
              <a:gd name="connsiteX7" fmla="*/ 6033717 w 6552531"/>
              <a:gd name="connsiteY7" fmla="*/ 4947333 h 4947333"/>
              <a:gd name="connsiteX8" fmla="*/ 688221 w 6552531"/>
              <a:gd name="connsiteY8" fmla="*/ 4947333 h 4947333"/>
              <a:gd name="connsiteX9" fmla="*/ 669155 w 6552531"/>
              <a:gd name="connsiteY9" fmla="*/ 4921952 h 4947333"/>
              <a:gd name="connsiteX10" fmla="*/ 159446 w 6552531"/>
              <a:gd name="connsiteY10" fmla="*/ 3896401 h 4947333"/>
              <a:gd name="connsiteX11" fmla="*/ 44617 w 6552531"/>
              <a:gd name="connsiteY11" fmla="*/ 3440846 h 4947333"/>
              <a:gd name="connsiteX12" fmla="*/ 40529 w 6552531"/>
              <a:gd name="connsiteY12" fmla="*/ 3406626 h 4947333"/>
              <a:gd name="connsiteX13" fmla="*/ 39476 w 6552531"/>
              <a:gd name="connsiteY13" fmla="*/ 3401514 h 4947333"/>
              <a:gd name="connsiteX14" fmla="*/ 482859 w 6552531"/>
              <a:gd name="connsiteY14" fmla="*/ 1876033 h 4947333"/>
              <a:gd name="connsiteX15" fmla="*/ 896951 w 6552531"/>
              <a:gd name="connsiteY15" fmla="*/ 1759366 h 4947333"/>
              <a:gd name="connsiteX16" fmla="*/ 1369778 w 6552531"/>
              <a:gd name="connsiteY16" fmla="*/ 1839493 h 4947333"/>
              <a:gd name="connsiteX17" fmla="*/ 1408346 w 6552531"/>
              <a:gd name="connsiteY17" fmla="*/ 1854656 h 4947333"/>
              <a:gd name="connsiteX18" fmla="*/ 1515289 w 6552531"/>
              <a:gd name="connsiteY18" fmla="*/ 1876395 h 4947333"/>
              <a:gd name="connsiteX19" fmla="*/ 2860708 w 6552531"/>
              <a:gd name="connsiteY19" fmla="*/ 1855646 h 4947333"/>
              <a:gd name="connsiteX20" fmla="*/ 3877062 w 6552531"/>
              <a:gd name="connsiteY20" fmla="*/ 691198 h 4947333"/>
              <a:gd name="connsiteX21" fmla="*/ 4633989 w 6552531"/>
              <a:gd name="connsiteY21" fmla="*/ 13545 h 4947333"/>
              <a:gd name="connsiteX22" fmla="*/ 4683323 w 6552531"/>
              <a:gd name="connsiteY22" fmla="*/ 9490 h 4947333"/>
              <a:gd name="connsiteX23" fmla="*/ 4720135 w 6552531"/>
              <a:gd name="connsiteY23" fmla="*/ 11657 h 4947333"/>
              <a:gd name="connsiteX24" fmla="*/ 4746809 w 6552531"/>
              <a:gd name="connsiteY24" fmla="*/ 6469 h 4947333"/>
              <a:gd name="connsiteX25" fmla="*/ 4854063 w 6552531"/>
              <a:gd name="connsiteY25" fmla="*/ 7 h 4947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552531" h="4947333">
                <a:moveTo>
                  <a:pt x="4854063" y="7"/>
                </a:moveTo>
                <a:cubicBezTo>
                  <a:pt x="4925952" y="311"/>
                  <a:pt x="4998520" y="9743"/>
                  <a:pt x="5071206" y="27731"/>
                </a:cubicBezTo>
                <a:cubicBezTo>
                  <a:pt x="5652694" y="171645"/>
                  <a:pt x="6241767" y="863160"/>
                  <a:pt x="6551503" y="1809287"/>
                </a:cubicBezTo>
                <a:lnTo>
                  <a:pt x="6552531" y="1812764"/>
                </a:lnTo>
                <a:lnTo>
                  <a:pt x="6552531" y="3922236"/>
                </a:lnTo>
                <a:lnTo>
                  <a:pt x="6508354" y="4056281"/>
                </a:lnTo>
                <a:cubicBezTo>
                  <a:pt x="6420252" y="4303320"/>
                  <a:pt x="6305352" y="4537096"/>
                  <a:pt x="6167266" y="4753897"/>
                </a:cubicBezTo>
                <a:lnTo>
                  <a:pt x="6033717" y="4947333"/>
                </a:lnTo>
                <a:lnTo>
                  <a:pt x="688221" y="4947333"/>
                </a:lnTo>
                <a:lnTo>
                  <a:pt x="669155" y="4921952"/>
                </a:lnTo>
                <a:cubicBezTo>
                  <a:pt x="462010" y="4623316"/>
                  <a:pt x="290452" y="4280274"/>
                  <a:pt x="159446" y="3896401"/>
                </a:cubicBezTo>
                <a:cubicBezTo>
                  <a:pt x="110759" y="3753734"/>
                  <a:pt x="70478" y="3595787"/>
                  <a:pt x="44617" y="3440846"/>
                </a:cubicBezTo>
                <a:lnTo>
                  <a:pt x="40529" y="3406626"/>
                </a:lnTo>
                <a:lnTo>
                  <a:pt x="39476" y="3401514"/>
                </a:lnTo>
                <a:cubicBezTo>
                  <a:pt x="-78551" y="2709645"/>
                  <a:pt x="67748" y="2122061"/>
                  <a:pt x="482859" y="1876033"/>
                </a:cubicBezTo>
                <a:cubicBezTo>
                  <a:pt x="607393" y="1802224"/>
                  <a:pt x="747277" y="1764396"/>
                  <a:pt x="896951" y="1759366"/>
                </a:cubicBezTo>
                <a:cubicBezTo>
                  <a:pt x="1046624" y="1754337"/>
                  <a:pt x="1206087" y="1782107"/>
                  <a:pt x="1369778" y="1839493"/>
                </a:cubicBezTo>
                <a:lnTo>
                  <a:pt x="1408346" y="1854656"/>
                </a:lnTo>
                <a:lnTo>
                  <a:pt x="1515289" y="1876395"/>
                </a:lnTo>
                <a:cubicBezTo>
                  <a:pt x="1867428" y="1960511"/>
                  <a:pt x="2467079" y="2053179"/>
                  <a:pt x="2860708" y="1855646"/>
                </a:cubicBezTo>
                <a:cubicBezTo>
                  <a:pt x="3254336" y="1658114"/>
                  <a:pt x="3625995" y="1062372"/>
                  <a:pt x="3877062" y="691198"/>
                </a:cubicBezTo>
                <a:cubicBezTo>
                  <a:pt x="4155238" y="279949"/>
                  <a:pt x="4374413" y="55026"/>
                  <a:pt x="4633989" y="13545"/>
                </a:cubicBezTo>
                <a:cubicBezTo>
                  <a:pt x="4650213" y="10953"/>
                  <a:pt x="4666671" y="9635"/>
                  <a:pt x="4683323" y="9490"/>
                </a:cubicBezTo>
                <a:lnTo>
                  <a:pt x="4720135" y="11657"/>
                </a:lnTo>
                <a:lnTo>
                  <a:pt x="4746809" y="6469"/>
                </a:lnTo>
                <a:cubicBezTo>
                  <a:pt x="4782344" y="1985"/>
                  <a:pt x="4818118" y="-145"/>
                  <a:pt x="4854063" y="7"/>
                </a:cubicBez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4838700" y="3239457"/>
            <a:ext cx="6790944" cy="1097269"/>
          </a:xfrm>
        </p:spPr>
        <p:txBody>
          <a:bodyPr lIns="0" tIns="0" bIns="0" anchor="b">
            <a:normAutofit/>
          </a:bodyPr>
          <a:lstStyle>
            <a:lvl1pPr>
              <a:lnSpc>
                <a:spcPct val="100000"/>
              </a:lnSpc>
              <a:defRPr sz="3200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Headline title slide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4833464" y="5641975"/>
            <a:ext cx="1445099" cy="184666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defRPr sz="1200">
                <a:latin typeface="+mn-lt"/>
              </a:defRPr>
            </a:lvl1pPr>
          </a:lstStyle>
          <a:p>
            <a:fld id="{A731AA60-9A41-441F-AB28-705C45573A0C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269B772D-4EEB-40F5-B989-5B158C414958}"/>
              </a:ext>
            </a:extLst>
          </p:cNvPr>
          <p:cNvSpPr/>
          <p:nvPr/>
        </p:nvSpPr>
        <p:spPr>
          <a:xfrm>
            <a:off x="0" y="6723258"/>
            <a:ext cx="12198350" cy="14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CH" sz="2400"/>
          </a:p>
        </p:txBody>
      </p:sp>
      <p:sp>
        <p:nvSpPr>
          <p:cNvPr id="16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38699" y="6200774"/>
            <a:ext cx="5541757" cy="421346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noProof="0" dirty="0"/>
              <a:t>Department</a:t>
            </a:r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38700" y="4410388"/>
            <a:ext cx="6790944" cy="860307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baseline="0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19" name="Textplatzhalter 5"/>
          <p:cNvSpPr>
            <a:spLocks noGrp="1"/>
          </p:cNvSpPr>
          <p:nvPr>
            <p:ph type="body" sz="quarter" idx="20" hasCustomPrompt="1"/>
          </p:nvPr>
        </p:nvSpPr>
        <p:spPr>
          <a:xfrm>
            <a:off x="4833464" y="5342714"/>
            <a:ext cx="5546993" cy="184666"/>
          </a:xfrm>
          <a:prstGeom prst="rect">
            <a:avLst/>
          </a:prstGeom>
        </p:spPr>
        <p:txBody>
          <a:bodyPr wrap="none" lIns="0" tIns="0" rIns="0" bIns="0" anchor="b" anchorCtr="0">
            <a:noAutofit/>
          </a:bodyPr>
          <a:lstStyle>
            <a:lvl1pPr marL="0" marR="0" indent="0" algn="l" defTabSz="6097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>
                <a:latin typeface="+mn-lt"/>
              </a:defRPr>
            </a:lvl1pPr>
            <a:lvl2pPr marL="360362" indent="0">
              <a:buNone/>
              <a:defRPr/>
            </a:lvl2pPr>
            <a:lvl3pPr marL="719138" indent="0">
              <a:buNone/>
              <a:defRPr/>
            </a:lvl3pPr>
            <a:lvl4pPr marL="1077912" indent="0">
              <a:buNone/>
              <a:defRPr/>
            </a:lvl4pPr>
            <a:lvl5pPr marL="1438275" indent="0">
              <a:buNone/>
              <a:defRPr/>
            </a:lvl5pPr>
          </a:lstStyle>
          <a:p>
            <a:pPr marL="0" marR="0" lvl="0" indent="0" algn="l" defTabSz="6097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1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First name last name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335" y="1376363"/>
            <a:ext cx="3767857" cy="15900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947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7335">
          <p15:clr>
            <a:srgbClr val="FBAE40"/>
          </p15:clr>
        </p15:guide>
        <p15:guide id="3" pos="3048">
          <p15:clr>
            <a:srgbClr val="FBAE40"/>
          </p15:clr>
        </p15:guide>
        <p15:guide id="4" orient="horz" pos="143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mit Bil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ildplatzhalter 13" descr="Hier Titelbild einfügen" title="Titelbild">
            <a:extLst>
              <a:ext uri="{FF2B5EF4-FFF2-40B4-BE49-F238E27FC236}">
                <a16:creationId xmlns:a16="http://schemas.microsoft.com/office/drawing/2014/main" id="{1DE6A71F-9A5B-4F1D-A226-20EDC05C37D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0" y="0"/>
            <a:ext cx="12198350" cy="5772670"/>
          </a:xfrm>
          <a:prstGeom prst="rect">
            <a:avLst/>
          </a:prstGeom>
          <a:solidFill>
            <a:schemeClr val="bg2"/>
          </a:solidFill>
        </p:spPr>
        <p:txBody>
          <a:bodyPr lIns="216000" tIns="108000" anchor="t" anchorCtr="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en-US" noProof="0" dirty="0"/>
              <a:t>Hint: Insert image bevor entering titles.</a:t>
            </a:r>
          </a:p>
        </p:txBody>
      </p:sp>
      <p:sp>
        <p:nvSpPr>
          <p:cNvPr id="2" name="Titel 1"/>
          <p:cNvSpPr>
            <a:spLocks noGrp="1"/>
          </p:cNvSpPr>
          <p:nvPr>
            <p:ph type="ctrTitle" hasCustomPrompt="1"/>
          </p:nvPr>
        </p:nvSpPr>
        <p:spPr>
          <a:xfrm>
            <a:off x="5338531" y="3427353"/>
            <a:ext cx="5957391" cy="797311"/>
          </a:xfrm>
          <a:solidFill>
            <a:srgbClr val="FFFFFF">
              <a:alpha val="80000"/>
            </a:srgbClr>
          </a:solidFill>
        </p:spPr>
        <p:txBody>
          <a:bodyPr wrap="square" lIns="108000" tIns="72000" rIns="108000" bIns="108000" anchor="b" anchorCtr="0">
            <a:spAutoFit/>
          </a:bodyPr>
          <a:lstStyle>
            <a:lvl1pPr algn="l">
              <a:lnSpc>
                <a:spcPct val="100000"/>
              </a:lnSpc>
              <a:defRPr sz="4000" b="1" baseline="0">
                <a:solidFill>
                  <a:schemeClr val="tx2"/>
                </a:solidFill>
              </a:defRPr>
            </a:lvl1pPr>
          </a:lstStyle>
          <a:p>
            <a:r>
              <a:rPr lang="en-US" noProof="0" dirty="0"/>
              <a:t>Headline title slide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>
          <a:xfrm>
            <a:off x="5486401" y="6453187"/>
            <a:ext cx="3906416" cy="179387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12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50B78CFF-C513-4309-8EC2-2C05B4012DCC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08043DE-5E81-43FD-995B-4B17DF0265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27514" y="4224664"/>
            <a:ext cx="4064000" cy="489534"/>
          </a:xfrm>
          <a:prstGeom prst="rect">
            <a:avLst/>
          </a:prstGeom>
          <a:solidFill>
            <a:srgbClr val="D72864">
              <a:alpha val="80000"/>
            </a:srgbClr>
          </a:solidFill>
        </p:spPr>
        <p:txBody>
          <a:bodyPr wrap="square" lIns="108000" tIns="72000" rIns="108000" bIns="108000" anchor="t" anchorCtr="0">
            <a:spAutoFit/>
          </a:bodyPr>
          <a:lstStyle>
            <a:lvl1pPr marL="0" indent="0">
              <a:buNone/>
              <a:defRPr sz="2000" baseline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6" name="Textplatzhalter 5"/>
          <p:cNvSpPr>
            <a:spLocks noGrp="1"/>
          </p:cNvSpPr>
          <p:nvPr>
            <p:ph type="body" sz="quarter" idx="14" hasCustomPrompt="1"/>
          </p:nvPr>
        </p:nvSpPr>
        <p:spPr>
          <a:xfrm>
            <a:off x="5486401" y="5949950"/>
            <a:ext cx="3906416" cy="503238"/>
          </a:xfrm>
          <a:prstGeom prst="rect">
            <a:avLst/>
          </a:prstGeom>
        </p:spPr>
        <p:txBody>
          <a:bodyPr lIns="0" tIns="0" rIns="0" bIns="0" anchor="t" anchorCtr="0">
            <a:normAutofit/>
          </a:bodyPr>
          <a:lstStyle>
            <a:lvl1pPr marL="0" marR="0" indent="0" algn="l" defTabSz="6097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/>
            </a:lvl1pPr>
            <a:lvl2pPr marL="360362" indent="0">
              <a:buNone/>
              <a:defRPr/>
            </a:lvl2pPr>
            <a:lvl3pPr marL="719138" indent="0">
              <a:buNone/>
              <a:defRPr/>
            </a:lvl3pPr>
            <a:lvl4pPr marL="1077912" indent="0">
              <a:buNone/>
              <a:defRPr/>
            </a:lvl4pPr>
            <a:lvl5pPr marL="1438275" indent="0">
              <a:buNone/>
              <a:defRPr/>
            </a:lvl5pPr>
          </a:lstStyle>
          <a:p>
            <a:pPr marL="0" marR="0" lvl="0" indent="0" algn="l" defTabSz="6097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1" b="0" i="0" u="none" strike="noStrike" kern="1200" cap="none" spc="0" normalizeH="0" baseline="0" noProof="0" dirty="0">
                <a:ln>
                  <a:noFill/>
                </a:ln>
                <a:solidFill>
                  <a:srgbClr val="191919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First name last name</a:t>
            </a:r>
          </a:p>
        </p:txBody>
      </p:sp>
      <p:sp>
        <p:nvSpPr>
          <p:cNvPr id="10" name="Textplatzhalter 14">
            <a:extLst>
              <a:ext uri="{FF2B5EF4-FFF2-40B4-BE49-F238E27FC236}">
                <a16:creationId xmlns:a16="http://schemas.microsoft.com/office/drawing/2014/main" id="{2A818FE7-2817-4CCE-892B-6DE76AF6C5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6450" y="5949950"/>
            <a:ext cx="4320721" cy="647700"/>
          </a:xfrm>
          <a:prstGeom prst="rect">
            <a:avLst/>
          </a:prstGeom>
        </p:spPr>
        <p:txBody>
          <a:bodyPr wrap="none" lIns="0" tIns="0" rIns="0" bIns="0">
            <a:noAutofit/>
          </a:bodyPr>
          <a:lstStyle>
            <a:lvl1pPr marL="0" indent="0">
              <a:buNone/>
              <a:defRPr sz="1200">
                <a:latin typeface="+mn-lt"/>
              </a:defRPr>
            </a:lvl1pPr>
          </a:lstStyle>
          <a:p>
            <a:pPr lvl="0"/>
            <a:r>
              <a:rPr lang="en-US" noProof="0" dirty="0"/>
              <a:t>Department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8756" y="5754010"/>
            <a:ext cx="2631519" cy="111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46210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108">
          <p15:clr>
            <a:srgbClr val="FBAE40"/>
          </p15:clr>
        </p15:guide>
        <p15:guide id="2" pos="2663">
          <p15:clr>
            <a:srgbClr val="FBAE40"/>
          </p15:clr>
        </p15:guide>
        <p15:guide id="3" orient="horz" pos="2659">
          <p15:clr>
            <a:srgbClr val="FBAE40"/>
          </p15:clr>
        </p15:guide>
        <p15:guide id="8" pos="5223">
          <p15:clr>
            <a:srgbClr val="FBAE40"/>
          </p15:clr>
        </p15:guide>
        <p15:guide id="9" orient="horz" pos="3748">
          <p15:clr>
            <a:srgbClr val="FBAE40"/>
          </p15:clr>
        </p15:guide>
        <p15:guide id="10" pos="3366">
          <p15:clr>
            <a:srgbClr val="FBAE40"/>
          </p15:clr>
        </p15:guide>
        <p15:guide id="11" pos="3456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C36FA-6CE3-4462-A697-C8078BB5CEF5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Change title: menu 'Insert'&gt;'Header and Footer'</a:t>
            </a:r>
            <a:endParaRPr lang="de-CH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8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6494462" y="333375"/>
            <a:ext cx="5365751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en-US" noProof="0" dirty="0"/>
              <a:t>Click on the placeholder to insert picture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449" y="2213149"/>
            <a:ext cx="5364164" cy="1917733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11" name="Titel 1"/>
          <p:cNvSpPr>
            <a:spLocks noGrp="1"/>
          </p:cNvSpPr>
          <p:nvPr>
            <p:ph type="title" hasCustomPrompt="1"/>
          </p:nvPr>
        </p:nvSpPr>
        <p:spPr>
          <a:xfrm>
            <a:off x="806450" y="333375"/>
            <a:ext cx="5364163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 baseline="0"/>
            </a:lvl1pPr>
          </a:lstStyle>
          <a:p>
            <a:r>
              <a:rPr lang="en-US" noProof="0" dirty="0"/>
              <a:t>Title section slide</a:t>
            </a:r>
          </a:p>
        </p:txBody>
      </p:sp>
    </p:spTree>
    <p:extLst>
      <p:ext uri="{BB962C8B-B14F-4D97-AF65-F5344CB8AC3E}">
        <p14:creationId xmlns:p14="http://schemas.microsoft.com/office/powerpoint/2010/main" val="1360501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bschnittsfolie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0" y="3850783"/>
            <a:ext cx="12198350" cy="2349992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en-US" noProof="0" dirty="0"/>
              <a:t>Click on the placeholder to insert picture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06450" y="333375"/>
            <a:ext cx="11053763" cy="1835150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noProof="0" dirty="0"/>
              <a:t>Title section slide</a:t>
            </a:r>
          </a:p>
        </p:txBody>
      </p:sp>
      <p:sp>
        <p:nvSpPr>
          <p:cNvPr id="6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06450" y="2213149"/>
            <a:ext cx="7371633" cy="1398501"/>
          </a:xfrm>
          <a:prstGeom prst="rect">
            <a:avLst/>
          </a:prstGeom>
        </p:spPr>
        <p:txBody>
          <a:bodyPr lIns="0" tIns="36000" rIns="0" bIns="0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Subtitle</a:t>
            </a:r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46C8D85-D898-4B13-8566-E0011A04DFFC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 noProof="0"/>
              <a:t>Change title: menu 'Insert'&gt;'Header and Footer'</a:t>
            </a:r>
            <a:endParaRPr lang="en-US" noProof="0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AC321B-7500-4259-A00F-915439A35E15}" type="slidenum">
              <a:rPr lang="en-US" noProof="0" smtClean="0"/>
              <a:pPr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021904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9">
          <p15:clr>
            <a:srgbClr val="FBAE40"/>
          </p15:clr>
        </p15:guide>
        <p15:guide id="2" orient="horz" pos="1366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platzhalt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06450" y="1449387"/>
            <a:ext cx="11053763" cy="4751387"/>
          </a:xfrm>
          <a:prstGeom prst="rect">
            <a:avLst/>
          </a:prstGeom>
        </p:spPr>
        <p:txBody>
          <a:bodyPr numCol="2" spcCol="288000">
            <a:normAutofit/>
          </a:bodyPr>
          <a:lstStyle>
            <a:lvl1pPr marL="342900" marR="0" indent="-342900" algn="l" defTabSz="609768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 sz="2000" baseline="0"/>
            </a:lvl1pPr>
            <a:lvl2pPr marL="360363" indent="-360363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SzPct val="120000"/>
              <a:buFontTx/>
              <a:buBlip>
                <a:blip r:embed="rId2"/>
              </a:buBlip>
              <a:defRPr sz="2000" b="1" baseline="0"/>
            </a:lvl2pPr>
            <a:lvl3pPr marL="628650" indent="-268288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/>
            </a:lvl3pPr>
            <a:lvl4pPr marL="895350" indent="-206375">
              <a:spcBef>
                <a:spcPts val="400"/>
              </a:spcBef>
              <a:spcAft>
                <a:spcPts val="0"/>
              </a:spcAft>
              <a:defRPr/>
            </a:lvl4pPr>
            <a:lvl5pPr marL="1163638" indent="-230188">
              <a:spcBef>
                <a:spcPts val="400"/>
              </a:spcBef>
              <a:spcAft>
                <a:spcPts val="0"/>
              </a:spcAft>
              <a:defRPr/>
            </a:lvl5pPr>
          </a:lstStyle>
          <a:p>
            <a:pPr lvl="0"/>
            <a:r>
              <a:rPr lang="en-US" noProof="0" dirty="0"/>
              <a:t>Chapter 1 [level 1]</a:t>
            </a:r>
          </a:p>
          <a:p>
            <a:pPr lvl="1"/>
            <a:r>
              <a:rPr lang="en-US" noProof="0" dirty="0"/>
              <a:t>Chapter 2 active [level 2]</a:t>
            </a:r>
          </a:p>
          <a:p>
            <a:pPr lvl="2"/>
            <a:r>
              <a:rPr lang="en-US" noProof="0" dirty="0"/>
              <a:t>Subchapter 1 [level 3]</a:t>
            </a:r>
          </a:p>
          <a:p>
            <a:pPr lvl="2"/>
            <a:r>
              <a:rPr lang="en-US" noProof="0" dirty="0"/>
              <a:t>Subchapter 2 [level 3]</a:t>
            </a:r>
          </a:p>
          <a:p>
            <a:pPr marL="342900" marR="0" lvl="0" indent="-342900" algn="l" defTabSz="609768" rtl="0" eaLnBrk="1" fontAlgn="auto" latinLnBrk="0" hangingPunct="1">
              <a:lnSpc>
                <a:spcPct val="120000"/>
              </a:lnSpc>
              <a:spcBef>
                <a:spcPts val="1200"/>
              </a:spcBef>
              <a:spcAft>
                <a:spcPts val="600"/>
              </a:spcAft>
              <a:buClr>
                <a:schemeClr val="tx2"/>
              </a:buClr>
              <a:buSzPct val="120000"/>
              <a:buFont typeface="Arial" panose="020B0604020202020204" pitchFamily="34" charset="0"/>
              <a:buChar char="•"/>
              <a:tabLst/>
              <a:defRPr/>
            </a:pPr>
            <a:r>
              <a:rPr lang="en-US" noProof="0" dirty="0"/>
              <a:t>Chapter 3 [level 1]</a:t>
            </a:r>
          </a:p>
          <a:p>
            <a:pPr lvl="0"/>
            <a:endParaRPr lang="de-DE" dirty="0"/>
          </a:p>
          <a:p>
            <a:pPr lvl="2"/>
            <a:endParaRPr lang="de-DE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8468" y="6244316"/>
            <a:ext cx="1340225" cy="629524"/>
          </a:xfrm>
          <a:prstGeom prst="rect">
            <a:avLst/>
          </a:prstGeom>
        </p:spPr>
      </p:pic>
      <p:sp>
        <p:nvSpPr>
          <p:cNvPr id="7" name="Titel 6"/>
          <p:cNvSpPr>
            <a:spLocks noGrp="1"/>
          </p:cNvSpPr>
          <p:nvPr>
            <p:ph type="title" hasCustomPrompt="1"/>
          </p:nvPr>
        </p:nvSpPr>
        <p:spPr>
          <a:xfrm>
            <a:off x="806450" y="333376"/>
            <a:ext cx="11053763" cy="287337"/>
          </a:xfrm>
        </p:spPr>
        <p:txBody>
          <a:bodyPr/>
          <a:lstStyle>
            <a:lvl1pPr>
              <a:defRPr lang="de-DE" sz="2000" b="1" kern="1200" baseline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de-DE" dirty="0"/>
              <a:t>Enter agenda title</a:t>
            </a:r>
            <a:endParaRPr lang="de-CH" dirty="0"/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493AA20-36C5-4937-9FD5-B60A30E96D0A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9" name="Fußzeilenplatzhalt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Change title: menu 'Insert'&gt;'Header and Footer'</a:t>
            </a:r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EAC321B-7500-4259-A00F-915439A35E15}" type="slidenum">
              <a:rPr lang="en-US" noProof="0" smtClean="0"/>
              <a:pPr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030436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Inhal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/>
              <a:t>Title content slide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1" hasCustomPrompt="1"/>
          </p:nvPr>
        </p:nvSpPr>
        <p:spPr>
          <a:xfrm>
            <a:off x="806450" y="1449388"/>
            <a:ext cx="11053763" cy="4751387"/>
          </a:xfrm>
        </p:spPr>
        <p:txBody>
          <a:bodyPr/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060E6CA1-998E-48BE-8665-ADEA6D5E94BC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noProof="0"/>
              <a:t>Change title: menu 'Insert'&gt;'Header and Footer'</a:t>
            </a:r>
            <a:endParaRPr lang="en-US" noProof="0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EAC321B-7500-4259-A00F-915439A35E15}" type="slidenum">
              <a:rPr lang="en-US" noProof="0" smtClean="0"/>
              <a:pPr/>
              <a:t>‹Nr.›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332756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806450" y="692150"/>
            <a:ext cx="11053763" cy="684213"/>
          </a:xfrm>
        </p:spPr>
        <p:txBody>
          <a:bodyPr/>
          <a:lstStyle/>
          <a:p>
            <a:r>
              <a:rPr lang="en-US" noProof="0" dirty="0"/>
              <a:t>Title content slide</a:t>
            </a:r>
          </a:p>
        </p:txBody>
      </p:sp>
      <p:sp>
        <p:nvSpPr>
          <p:cNvPr id="9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7" name="Inhaltsplatzhalter 6"/>
          <p:cNvSpPr>
            <a:spLocks noGrp="1"/>
          </p:cNvSpPr>
          <p:nvPr>
            <p:ph sz="quarter" idx="26" hasCustomPrompt="1"/>
          </p:nvPr>
        </p:nvSpPr>
        <p:spPr>
          <a:xfrm>
            <a:off x="806450" y="1449388"/>
            <a:ext cx="5364163" cy="4751387"/>
          </a:xfrm>
        </p:spPr>
        <p:txBody>
          <a:bodyPr/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</p:txBody>
      </p:sp>
      <p:sp>
        <p:nvSpPr>
          <p:cNvPr id="11" name="Inhaltsplatzhalter 6"/>
          <p:cNvSpPr>
            <a:spLocks noGrp="1"/>
          </p:cNvSpPr>
          <p:nvPr>
            <p:ph sz="quarter" idx="27" hasCustomPrompt="1"/>
          </p:nvPr>
        </p:nvSpPr>
        <p:spPr>
          <a:xfrm>
            <a:off x="6496050" y="1449388"/>
            <a:ext cx="5364163" cy="4751387"/>
          </a:xfrm>
        </p:spPr>
        <p:txBody>
          <a:bodyPr/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BFD6BAD-2A7F-49B6-B3C9-9B3977780D35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 noProof="0"/>
              <a:t>Change title: menu 'Insert'&gt;'Header and Footer'</a:t>
            </a:r>
            <a:endParaRPr lang="en-US" noProof="0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9976854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06451" y="1449388"/>
            <a:ext cx="5364576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Heading</a:t>
            </a:r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05072" y="1449388"/>
            <a:ext cx="5353967" cy="358775"/>
          </a:xfrm>
          <a:prstGeom prst="rect">
            <a:avLst/>
          </a:prstGeom>
        </p:spPr>
        <p:txBody>
          <a:bodyPr t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Heading</a:t>
            </a:r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Title content slide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5" hasCustomPrompt="1"/>
          </p:nvPr>
        </p:nvSpPr>
        <p:spPr>
          <a:xfrm>
            <a:off x="806450" y="1881188"/>
            <a:ext cx="5364163" cy="4319587"/>
          </a:xfrm>
        </p:spPr>
        <p:txBody>
          <a:bodyPr/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</p:txBody>
      </p:sp>
      <p:sp>
        <p:nvSpPr>
          <p:cNvPr id="15" name="Inhaltsplatzhalter 4"/>
          <p:cNvSpPr>
            <a:spLocks noGrp="1"/>
          </p:cNvSpPr>
          <p:nvPr>
            <p:ph sz="quarter" idx="26" hasCustomPrompt="1"/>
          </p:nvPr>
        </p:nvSpPr>
        <p:spPr>
          <a:xfrm>
            <a:off x="6494463" y="1881188"/>
            <a:ext cx="5364163" cy="4319587"/>
          </a:xfrm>
        </p:spPr>
        <p:txBody>
          <a:bodyPr/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27"/>
          </p:nvPr>
        </p:nvSpPr>
        <p:spPr/>
        <p:txBody>
          <a:bodyPr/>
          <a:lstStyle/>
          <a:p>
            <a:fld id="{B03671D8-2F53-4251-B14D-FA619AE07F79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8"/>
          </p:nvPr>
        </p:nvSpPr>
        <p:spPr/>
        <p:txBody>
          <a:bodyPr/>
          <a:lstStyle/>
          <a:p>
            <a:r>
              <a:rPr lang="en-US" noProof="0"/>
              <a:t>Change title: menu 'Insert'&gt;'Header and Footer'</a:t>
            </a:r>
            <a:endParaRPr lang="en-US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9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‹Nr.›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5562478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185">
          <p15:clr>
            <a:srgbClr val="FBAE40"/>
          </p15:clr>
        </p15:guide>
        <p15:guide id="2" orient="horz" pos="1139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und Bild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ildplatzhalter 7"/>
          <p:cNvSpPr>
            <a:spLocks noGrp="1"/>
          </p:cNvSpPr>
          <p:nvPr>
            <p:ph type="pic" sz="quarter" idx="21" hasCustomPrompt="1"/>
          </p:nvPr>
        </p:nvSpPr>
        <p:spPr>
          <a:xfrm>
            <a:off x="7431782" y="333375"/>
            <a:ext cx="4428432" cy="5867400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en-US" noProof="0" dirty="0"/>
              <a:t>Click on the placeholder to insert picture</a:t>
            </a:r>
          </a:p>
        </p:txBody>
      </p:sp>
      <p:sp>
        <p:nvSpPr>
          <p:cNvPr id="11" name="Inhaltsplatzhalter 10"/>
          <p:cNvSpPr>
            <a:spLocks noGrp="1"/>
          </p:cNvSpPr>
          <p:nvPr>
            <p:ph sz="quarter" idx="22" hasCustomPrompt="1"/>
          </p:nvPr>
        </p:nvSpPr>
        <p:spPr>
          <a:xfrm>
            <a:off x="806450" y="1449388"/>
            <a:ext cx="6337300" cy="4751387"/>
          </a:xfrm>
        </p:spPr>
        <p:txBody>
          <a:bodyPr/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6337301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de-DE" dirty="0"/>
              <a:t>Topic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2BA5D3F3-3C26-4DD4-A792-2C4C7D9631C1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noProof="0"/>
              <a:t>Change title: menu 'Insert'&gt;'Header and Footer'</a:t>
            </a:r>
            <a:endParaRPr lang="en-US" noProof="0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EAC321B-7500-4259-A00F-915439A35E15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3" name="Titel 2"/>
          <p:cNvSpPr>
            <a:spLocks noGrp="1"/>
          </p:cNvSpPr>
          <p:nvPr>
            <p:ph type="title" hasCustomPrompt="1"/>
          </p:nvPr>
        </p:nvSpPr>
        <p:spPr>
          <a:xfrm>
            <a:off x="806451" y="692150"/>
            <a:ext cx="6337300" cy="684213"/>
          </a:xfrm>
        </p:spPr>
        <p:txBody>
          <a:bodyPr/>
          <a:lstStyle/>
          <a:p>
            <a:r>
              <a:rPr lang="en-US" noProof="0" dirty="0"/>
              <a:t>Title content slide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30229030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45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19B420C7-7824-4382-99B3-E842F4995AC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06449" y="334039"/>
            <a:ext cx="11053764" cy="286673"/>
          </a:xfrm>
          <a:prstGeom prst="rect">
            <a:avLst/>
          </a:prstGeom>
        </p:spPr>
        <p:txBody>
          <a:bodyPr lIns="0" tIns="0" rIns="0" bIns="0" anchor="ctr" anchorCtr="0">
            <a:norm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 noProof="0" dirty="0"/>
              <a:t>Topic</a:t>
            </a:r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CEC9C8A4-A3A9-4D2B-BE95-6854FE3C375E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 noProof="0"/>
              <a:t>Change title: menu 'Insert'&gt;'Header and Footer'</a:t>
            </a:r>
            <a:endParaRPr lang="en-US" noProof="0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EAC321B-7500-4259-A00F-915439A35E15}" type="slidenum">
              <a:rPr lang="en-US" noProof="0" smtClean="0"/>
              <a:pPr/>
              <a:t>‹Nr.›</a:t>
            </a:fld>
            <a:endParaRPr lang="en-US" noProof="0"/>
          </a:p>
        </p:txBody>
      </p:sp>
      <p:sp>
        <p:nvSpPr>
          <p:cNvPr id="6" name="Titel 5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noProof="0" dirty="0"/>
              <a:t>Title content slide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247666094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e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1567A2-42BE-444E-B9F2-DBACE81C12A8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Change title: menu 'Insert'&gt;'Header and Footer'</a:t>
            </a:r>
            <a:endParaRPr lang="en-US" noProof="0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AC321B-7500-4259-A00F-915439A35E15}" type="slidenum">
              <a:rPr lang="en-US" noProof="0" smtClean="0"/>
              <a:pPr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842165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ollbil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ildplatzhalter 7"/>
          <p:cNvSpPr>
            <a:spLocks noGrp="1"/>
          </p:cNvSpPr>
          <p:nvPr>
            <p:ph type="pic" sz="quarter" idx="20" hasCustomPrompt="1"/>
          </p:nvPr>
        </p:nvSpPr>
        <p:spPr>
          <a:xfrm>
            <a:off x="0" y="-1"/>
            <a:ext cx="12198350" cy="6200775"/>
          </a:xfrm>
          <a:prstGeom prst="rect">
            <a:avLst/>
          </a:prstGeom>
          <a:solidFill>
            <a:schemeClr val="bg2"/>
          </a:solidFill>
        </p:spPr>
        <p:txBody>
          <a:bodyPr lIns="216000" tIns="108000">
            <a:normAutofit/>
          </a:bodyPr>
          <a:lstStyle>
            <a:lvl1pPr marL="0" indent="0">
              <a:buNone/>
              <a:defRPr sz="2000" baseline="0"/>
            </a:lvl1pPr>
          </a:lstStyle>
          <a:p>
            <a:r>
              <a:rPr lang="en-US" noProof="0" dirty="0"/>
              <a:t>Click on the placeholder to insert picture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7BAD9D48-BAC3-4994-BD3C-957C66A267C1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 noProof="0"/>
              <a:t>Change title: menu 'Insert'&gt;'Header and Footer'</a:t>
            </a:r>
            <a:endParaRPr lang="en-US" noProof="0" dirty="0"/>
          </a:p>
        </p:txBody>
      </p:sp>
      <p:sp>
        <p:nvSpPr>
          <p:cNvPr id="8" name="Foliennummernplatzhalter 7"/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4EAC321B-7500-4259-A00F-915439A35E15}" type="slidenum">
              <a:rPr lang="en-US" noProof="0" smtClean="0"/>
              <a:pPr/>
              <a:t>‹Nr.›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061251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elplatzhalter 1"/>
          <p:cNvSpPr>
            <a:spLocks noGrp="1"/>
          </p:cNvSpPr>
          <p:nvPr>
            <p:ph type="title"/>
          </p:nvPr>
        </p:nvSpPr>
        <p:spPr>
          <a:xfrm>
            <a:off x="806450" y="692150"/>
            <a:ext cx="11053763" cy="684213"/>
          </a:xfrm>
          <a:prstGeom prst="rect">
            <a:avLst/>
          </a:prstGeom>
        </p:spPr>
        <p:txBody>
          <a:bodyPr vert="horz" lIns="0" tIns="0" rIns="0" bIns="0" rtlCol="0" anchor="ctr" anchorCtr="0">
            <a:normAutofit/>
          </a:bodyPr>
          <a:lstStyle/>
          <a:p>
            <a:r>
              <a:rPr lang="en-US" noProof="0" dirty="0"/>
              <a:t>Title content slide</a:t>
            </a:r>
          </a:p>
        </p:txBody>
      </p:sp>
      <p:cxnSp>
        <p:nvCxnSpPr>
          <p:cNvPr id="49" name="Gerader Verbinder 48">
            <a:extLst>
              <a:ext uri="{FF2B5EF4-FFF2-40B4-BE49-F238E27FC236}">
                <a16:creationId xmlns:a16="http://schemas.microsoft.com/office/drawing/2014/main" id="{DCCF8EB6-970F-4B91-8E46-5B6411EAA2E4}"/>
              </a:ext>
            </a:extLst>
          </p:cNvPr>
          <p:cNvCxnSpPr>
            <a:cxnSpLocks/>
          </p:cNvCxnSpPr>
          <p:nvPr/>
        </p:nvCxnSpPr>
        <p:spPr>
          <a:xfrm>
            <a:off x="802958" y="6454845"/>
            <a:ext cx="0" cy="403155"/>
          </a:xfrm>
          <a:prstGeom prst="line">
            <a:avLst/>
          </a:prstGeom>
          <a:ln w="381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atumsplatzhalter 2">
            <a:extLst>
              <a:ext uri="{FF2B5EF4-FFF2-40B4-BE49-F238E27FC236}">
                <a16:creationId xmlns:a16="http://schemas.microsoft.com/office/drawing/2014/main" id="{DD859570-9479-4CD6-9E5E-B8BCB591EF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 sz="1200"/>
            </a:lvl1pPr>
          </a:lstStyle>
          <a:p>
            <a:fld id="{1AC91E83-C15A-4E7C-90F5-27C2757E8452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52" name="Fußzeilenplatzhalter 3">
            <a:extLst>
              <a:ext uri="{FF2B5EF4-FFF2-40B4-BE49-F238E27FC236}">
                <a16:creationId xmlns:a16="http://schemas.microsoft.com/office/drawing/2014/main" id="{2A1BCD4E-392B-40D0-9259-9419E76355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06450" y="6454846"/>
            <a:ext cx="5364163" cy="232558"/>
          </a:xfrm>
          <a:prstGeom prst="rect">
            <a:avLst/>
          </a:prstGeom>
        </p:spPr>
        <p:txBody>
          <a:bodyPr lIns="108000" tIns="0" rIns="0" bIns="0"/>
          <a:lstStyle>
            <a:lvl1pPr algn="l">
              <a:defRPr sz="1200"/>
            </a:lvl1pPr>
          </a:lstStyle>
          <a:p>
            <a:r>
              <a:rPr lang="en-US" noProof="0" dirty="0"/>
              <a:t>Change title: menu 'Insert'&gt;'Header and Footer'</a:t>
            </a:r>
          </a:p>
        </p:txBody>
      </p:sp>
      <p:sp>
        <p:nvSpPr>
          <p:cNvPr id="53" name="Foliennummernplatzhalter 4">
            <a:extLst>
              <a:ext uri="{FF2B5EF4-FFF2-40B4-BE49-F238E27FC236}">
                <a16:creationId xmlns:a16="http://schemas.microsoft.com/office/drawing/2014/main" id="{F6E723C3-915C-402C-9570-E97A66A840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4EAC321B-7500-4259-A00F-915439A35E15}" type="slidenum">
              <a:rPr lang="en-US" noProof="0" smtClean="0"/>
              <a:pPr/>
              <a:t>‹Nr.›</a:t>
            </a:fld>
            <a:endParaRPr lang="en-US" noProof="0" dirty="0"/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58E42ADF-F5B2-43B8-AB96-1EFC272BC700}"/>
              </a:ext>
            </a:extLst>
          </p:cNvPr>
          <p:cNvPicPr>
            <a:picLocks noChangeAspect="1"/>
          </p:cNvPicPr>
          <p:nvPr/>
        </p:nvPicPr>
        <p:blipFill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8468" y="6244316"/>
            <a:ext cx="1340225" cy="629524"/>
          </a:xfrm>
          <a:prstGeom prst="rect">
            <a:avLst/>
          </a:prstGeom>
        </p:spPr>
      </p:pic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802958" y="1449388"/>
            <a:ext cx="11057254" cy="4751387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noProof="0" dirty="0"/>
              <a:t>First level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  <a:p>
            <a:pPr lvl="5"/>
            <a:r>
              <a:rPr lang="en-US" noProof="0" dirty="0"/>
              <a:t>Sixth level</a:t>
            </a:r>
          </a:p>
          <a:p>
            <a:pPr lvl="6"/>
            <a:r>
              <a:rPr lang="en-US" noProof="0" dirty="0"/>
              <a:t>Seventh level</a:t>
            </a:r>
          </a:p>
          <a:p>
            <a:pPr lvl="4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56726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3" r:id="rId1"/>
    <p:sldLayoutId id="2147483844" r:id="rId2"/>
    <p:sldLayoutId id="2147483845" r:id="rId3"/>
    <p:sldLayoutId id="2147483846" r:id="rId4"/>
    <p:sldLayoutId id="2147483847" r:id="rId5"/>
    <p:sldLayoutId id="2147483848" r:id="rId6"/>
    <p:sldLayoutId id="2147483849" r:id="rId7"/>
    <p:sldLayoutId id="2147483850" r:id="rId8"/>
    <p:sldLayoutId id="2147483851" r:id="rId9"/>
    <p:sldLayoutId id="2147483852" r:id="rId10"/>
    <p:sldLayoutId id="2147483853" r:id="rId11"/>
    <p:sldLayoutId id="2147483854" r:id="rId12"/>
  </p:sldLayoutIdLst>
  <p:hf hdr="0"/>
  <p:txStyles>
    <p:titleStyle>
      <a:lvl1pPr algn="l" defTabSz="609768" rtl="0" eaLnBrk="1" latinLnBrk="0" hangingPunct="1">
        <a:lnSpc>
          <a:spcPct val="120000"/>
        </a:lnSpc>
        <a:spcBef>
          <a:spcPct val="0"/>
        </a:spcBef>
        <a:buNone/>
        <a:defRPr sz="3200" b="1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609768" rtl="0" eaLnBrk="1" latinLnBrk="0" hangingPunct="1">
        <a:spcBef>
          <a:spcPts val="18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4000" indent="-252000" algn="l" defTabSz="609768" rtl="0" eaLnBrk="1" latinLnBrk="0" hangingPunct="1">
        <a:spcBef>
          <a:spcPts val="1200"/>
        </a:spcBef>
        <a:buClr>
          <a:schemeClr val="tx1"/>
        </a:buClr>
        <a:buSzPct val="8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56000" indent="-252000" algn="l" defTabSz="609768" rtl="0" eaLnBrk="1" latinLnBrk="0" hangingPunct="1">
        <a:spcBef>
          <a:spcPts val="1000"/>
        </a:spcBef>
        <a:buSzPct val="90000"/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8000" indent="-252000" algn="l" defTabSz="609768" rtl="0" eaLnBrk="1" latinLnBrk="0" hangingPunct="1">
        <a:spcBef>
          <a:spcPts val="6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60000" marR="0" indent="-252000" algn="l" defTabSz="609768" rtl="0" eaLnBrk="1" fontAlgn="auto" latinLnBrk="0" hangingPunct="1">
        <a:lnSpc>
          <a:spcPct val="120000"/>
        </a:lnSpc>
        <a:spcBef>
          <a:spcPts val="600"/>
        </a:spcBef>
        <a:spcAft>
          <a:spcPts val="0"/>
        </a:spcAft>
        <a:buClrTx/>
        <a:buSzTx/>
        <a:buFont typeface="Symbol" panose="05050102010706020507" pitchFamily="18" charset="2"/>
        <a:buChar char="-"/>
        <a:tabLst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512000" indent="-252000" algn="l" defTabSz="611188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764000" indent="-252000" algn="l" defTabSz="609768" rtl="0" eaLnBrk="1" latinLnBrk="0" hangingPunct="1">
        <a:lnSpc>
          <a:spcPct val="120000"/>
        </a:lnSpc>
        <a:spcBef>
          <a:spcPts val="600"/>
        </a:spcBef>
        <a:buFont typeface="Symbol" panose="05050102010706020507" pitchFamily="18" charset="2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3257" indent="-304884" algn="l" defTabSz="60976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3025" indent="-304884" algn="l" defTabSz="609768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768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535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9303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9071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838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8606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8373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8141" algn="l" defTabSz="609768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508">
          <p15:clr>
            <a:srgbClr val="547EBF"/>
          </p15:clr>
        </p15:guide>
        <p15:guide id="7" pos="7471">
          <p15:clr>
            <a:srgbClr val="547EBF"/>
          </p15:clr>
        </p15:guide>
        <p15:guide id="8" orient="horz" pos="210">
          <p15:clr>
            <a:srgbClr val="547EBF"/>
          </p15:clr>
        </p15:guide>
        <p15:guide id="9" orient="horz" pos="4065">
          <p15:clr>
            <a:srgbClr val="C35EA4"/>
          </p15:clr>
        </p15:guide>
        <p15:guide id="10" orient="horz" pos="4156" userDrawn="1">
          <p15:clr>
            <a:srgbClr val="547EBF"/>
          </p15:clr>
        </p15:guide>
        <p15:guide id="12" orient="horz" pos="391">
          <p15:clr>
            <a:srgbClr val="C35EA4"/>
          </p15:clr>
        </p15:guide>
        <p15:guide id="13" orient="horz" pos="913">
          <p15:clr>
            <a:srgbClr val="C35EA4"/>
          </p15:clr>
        </p15:guide>
        <p15:guide id="14" orient="horz" pos="3906">
          <p15:clr>
            <a:srgbClr val="C35EA4"/>
          </p15:clr>
        </p15:guide>
        <p15:guide id="15" pos="3987">
          <p15:clr>
            <a:srgbClr val="9FCC3B"/>
          </p15:clr>
        </p15:guide>
        <p15:guide id="16" pos="4091">
          <p15:clr>
            <a:srgbClr val="C35EA4"/>
          </p15:clr>
        </p15:guide>
        <p15:guide id="17" pos="3887">
          <p15:clr>
            <a:srgbClr val="C35EA4"/>
          </p15:clr>
        </p15:guide>
        <p15:guide id="18" orient="horz" pos="867">
          <p15:clr>
            <a:srgbClr val="C35EA4"/>
          </p15:clr>
        </p15:guide>
        <p15:guide id="19" orient="horz" pos="436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Preprocessing &amp; Visualization (2) Exercises</a:t>
            </a:r>
          </a:p>
        </p:txBody>
      </p:sp>
      <p:sp>
        <p:nvSpPr>
          <p:cNvPr id="6" name="Datumsplatzhalt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83FB0-21B6-412A-965F-B6392FBE90AA}" type="datetime3">
              <a:rPr lang="en-US" smtClean="0"/>
              <a:t>6 May 2026</a:t>
            </a:fld>
            <a:endParaRPr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 err="1"/>
              <a:t>Studiengang</a:t>
            </a:r>
            <a:r>
              <a:rPr lang="en-US" dirty="0"/>
              <a:t> </a:t>
            </a:r>
            <a:r>
              <a:rPr lang="en-US" dirty="0" err="1"/>
              <a:t>Wirtschaftsingenieurwesen</a:t>
            </a:r>
            <a:endParaRPr lang="en-US" dirty="0"/>
          </a:p>
        </p:txBody>
      </p:sp>
      <p:sp>
        <p:nvSpPr>
          <p:cNvPr id="10" name="Textplatzhalter 9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Exercises in Data Science</a:t>
            </a:r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Prof Dr. Daniel P. Politze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911ABF62-AE9D-F796-FE30-FC984FD9DE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30080" y="6453409"/>
            <a:ext cx="2013809" cy="12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240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7D1B9C-CA08-4E10-809F-935010ADC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Binning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4378BA1-A8FB-46B5-A959-0FC2FEF1DC6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806450" y="1482352"/>
            <a:ext cx="11053763" cy="4751387"/>
          </a:xfrm>
        </p:spPr>
        <p:txBody>
          <a:bodyPr>
            <a:normAutofit/>
          </a:bodyPr>
          <a:lstStyle/>
          <a:p>
            <a:r>
              <a:rPr lang="en-US" dirty="0"/>
              <a:t>Given Dataset: 13,20,22,36,45,54,61,64,70 (n = 9)</a:t>
            </a:r>
          </a:p>
          <a:p>
            <a:r>
              <a:rPr lang="en-US" dirty="0"/>
              <a:t>Smoothing by bin means (bin depth of 3): </a:t>
            </a:r>
            <a:br>
              <a:rPr lang="en-US" dirty="0"/>
            </a:br>
            <a:r>
              <a:rPr lang="en-US" dirty="0"/>
              <a:t>1. Sort dataset</a:t>
            </a:r>
            <a:br>
              <a:rPr lang="en-US" dirty="0"/>
            </a:br>
            <a:r>
              <a:rPr lang="en-US" dirty="0"/>
              <a:t>2. Divide data into groups (of the size of the bin depth).</a:t>
            </a:r>
            <a:br>
              <a:rPr lang="en-US" dirty="0"/>
            </a:br>
            <a:r>
              <a:rPr lang="en-US" dirty="0"/>
              <a:t>3. Calculate the average of the groups.</a:t>
            </a:r>
          </a:p>
          <a:p>
            <a:r>
              <a:rPr lang="en-US" dirty="0"/>
              <a:t>Solution dataset (rounded): 18, 18, 18, 45, 45, 45, 65, 65, 65</a:t>
            </a:r>
          </a:p>
          <a:p>
            <a:r>
              <a:rPr lang="en-US" dirty="0"/>
              <a:t>What is the purpose of smoothing?</a:t>
            </a:r>
          </a:p>
          <a:p>
            <a:r>
              <a:rPr lang="en-US" dirty="0"/>
              <a:t>The goal is to reduce the impact of outliers and "smooth" the data.</a:t>
            </a:r>
          </a:p>
          <a:p>
            <a:r>
              <a:rPr lang="en-US" dirty="0"/>
              <a:t>Fluctuations are reduced, and trends become more visible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0109BDB-BDA3-40B4-AD59-EBCA96C51AD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en-US" dirty="0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E8C246B-C29E-4952-878F-4B6EC8304D8F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060E6CA1-998E-48BE-8665-ADEA6D5E94BC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7A89BD2-799E-4EDF-B206-AACC37214E2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EAC321B-7500-4259-A00F-915439A35E15}" type="slidenum">
              <a:rPr lang="en-US" noProof="0" smtClean="0"/>
              <a:pPr/>
              <a:t>2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42239309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FFC8277-3469-3004-5FF4-F697F415A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Correlation</a:t>
            </a:r>
            <a:endParaRPr lang="de-CH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DA21A22F-EA0A-B988-161B-DAA706F79170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rcRect r="43975"/>
          <a:stretch/>
        </p:blipFill>
        <p:spPr>
          <a:xfrm>
            <a:off x="4123526" y="1664704"/>
            <a:ext cx="3951297" cy="684213"/>
          </a:xfrm>
        </p:spPr>
      </p:pic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477F07-9ED5-A2BD-0918-06A94C27E70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30A5687-91B7-BE8C-10CA-175EC6B6872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060E6CA1-998E-48BE-8665-ADEA6D5E94BC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7069FDD-18D5-DE2F-2868-60F245B3F2F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EAC321B-7500-4259-A00F-915439A35E15}" type="slidenum">
              <a:rPr lang="en-US" noProof="0" smtClean="0"/>
              <a:pPr/>
              <a:t>3</a:t>
            </a:fld>
            <a:endParaRPr lang="en-US" noProof="0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6214DAE9-5389-6DA6-E239-BD26DC0188E5}"/>
              </a:ext>
            </a:extLst>
          </p:cNvPr>
          <p:cNvSpPr txBox="1"/>
          <p:nvPr/>
        </p:nvSpPr>
        <p:spPr>
          <a:xfrm>
            <a:off x="572292" y="2637258"/>
            <a:ext cx="11053763" cy="3638036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 err="1">
                <a:ea typeface="Roboto Medium" panose="02000000000000000000" pitchFamily="2" charset="0"/>
              </a:rPr>
              <a:t>Calculate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the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correlation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coefficient</a:t>
            </a:r>
            <a:r>
              <a:rPr lang="de-CH" sz="2000" dirty="0">
                <a:ea typeface="Roboto Medium" panose="02000000000000000000" pitchFamily="2" charset="0"/>
              </a:rPr>
              <a:t>: </a:t>
            </a:r>
            <a:br>
              <a:rPr lang="de-CH" sz="2000" dirty="0">
                <a:ea typeface="Roboto Medium" panose="02000000000000000000" pitchFamily="2" charset="0"/>
              </a:rPr>
            </a:br>
            <a:r>
              <a:rPr lang="de-CH" sz="2000" dirty="0" err="1">
                <a:ea typeface="Roboto Medium" panose="02000000000000000000" pitchFamily="2" charset="0"/>
              </a:rPr>
              <a:t>Calculate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the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mean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of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the</a:t>
            </a:r>
            <a:r>
              <a:rPr lang="de-CH" sz="2000" dirty="0">
                <a:ea typeface="Roboto Medium" panose="02000000000000000000" pitchFamily="2" charset="0"/>
              </a:rPr>
              <a:t> X </a:t>
            </a:r>
            <a:r>
              <a:rPr lang="de-CH" sz="2000" dirty="0" err="1">
                <a:ea typeface="Roboto Medium" panose="02000000000000000000" pitchFamily="2" charset="0"/>
              </a:rPr>
              <a:t>values</a:t>
            </a:r>
            <a:br>
              <a:rPr lang="de-CH" sz="2000" dirty="0">
                <a:ea typeface="Roboto Medium" panose="02000000000000000000" pitchFamily="2" charset="0"/>
              </a:rPr>
            </a:br>
            <a:br>
              <a:rPr lang="de-CH" sz="2000" dirty="0">
                <a:ea typeface="Roboto Medium" panose="02000000000000000000" pitchFamily="2" charset="0"/>
              </a:rPr>
            </a:br>
            <a:br>
              <a:rPr lang="de-CH" sz="2000" dirty="0">
                <a:ea typeface="Roboto Medium" panose="02000000000000000000" pitchFamily="2" charset="0"/>
              </a:rPr>
            </a:br>
            <a:r>
              <a:rPr lang="de-CH" sz="2000" dirty="0" err="1">
                <a:ea typeface="Roboto Medium" panose="02000000000000000000" pitchFamily="2" charset="0"/>
              </a:rPr>
              <a:t>Calculate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the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mean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of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the</a:t>
            </a:r>
            <a:r>
              <a:rPr lang="de-CH" sz="2000" dirty="0">
                <a:ea typeface="Roboto Medium" panose="02000000000000000000" pitchFamily="2" charset="0"/>
              </a:rPr>
              <a:t> Y </a:t>
            </a:r>
            <a:r>
              <a:rPr lang="de-CH" sz="2000" dirty="0" err="1">
                <a:ea typeface="Roboto Medium" panose="02000000000000000000" pitchFamily="2" charset="0"/>
              </a:rPr>
              <a:t>values</a:t>
            </a:r>
            <a:br>
              <a:rPr lang="de-CH" sz="2000" dirty="0">
                <a:ea typeface="Roboto Medium" panose="02000000000000000000" pitchFamily="2" charset="0"/>
              </a:rPr>
            </a:br>
            <a:br>
              <a:rPr lang="de-CH" sz="2000" dirty="0">
                <a:ea typeface="Roboto Medium" panose="02000000000000000000" pitchFamily="2" charset="0"/>
              </a:rPr>
            </a:br>
            <a:endParaRPr lang="de-CH" sz="2000" dirty="0">
              <a:ea typeface="Roboto Medium" panose="02000000000000000000" pitchFamily="2" charset="0"/>
              <a:sym typeface="Wingdings" panose="05000000000000000000" pitchFamily="2" charset="2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 err="1">
                <a:ea typeface="Roboto Medium" panose="02000000000000000000" pitchFamily="2" charset="0"/>
              </a:rPr>
              <a:t>Calculation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of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differences</a:t>
            </a:r>
            <a:r>
              <a:rPr lang="de-CH" sz="2000" dirty="0">
                <a:ea typeface="Roboto Medium" panose="02000000000000000000" pitchFamily="2" charset="0"/>
              </a:rPr>
              <a:t>: </a:t>
            </a:r>
            <a:br>
              <a:rPr lang="de-CH" sz="2000" dirty="0">
                <a:ea typeface="Roboto Medium" panose="02000000000000000000" pitchFamily="2" charset="0"/>
              </a:rPr>
            </a:br>
            <a:endParaRPr lang="de-CH" sz="2000" dirty="0">
              <a:ea typeface="Roboto Medium" panose="02000000000000000000" pitchFamily="2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379EB817-8C7E-B189-A5A6-5A86E611A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221" y="3245463"/>
            <a:ext cx="2630490" cy="581615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0807A3AB-6B25-6A29-FCAC-E4EF18B0C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8221" y="4245702"/>
            <a:ext cx="2425461" cy="581615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3D866C40-28F6-3517-36EE-E1C65E363F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50" y="5246685"/>
            <a:ext cx="6668431" cy="847843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610C006E-E48B-D091-1935-FF35A4BA4F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81943" y="3177146"/>
            <a:ext cx="4744112" cy="1924319"/>
          </a:xfrm>
          <a:prstGeom prst="rect">
            <a:avLst/>
          </a:prstGeom>
        </p:spPr>
      </p:pic>
      <p:sp>
        <p:nvSpPr>
          <p:cNvPr id="19" name="Rechteck 18">
            <a:extLst>
              <a:ext uri="{FF2B5EF4-FFF2-40B4-BE49-F238E27FC236}">
                <a16:creationId xmlns:a16="http://schemas.microsoft.com/office/drawing/2014/main" id="{8137FDA4-027B-4B3E-DEBB-2191A6512356}"/>
              </a:ext>
            </a:extLst>
          </p:cNvPr>
          <p:cNvSpPr/>
          <p:nvPr/>
        </p:nvSpPr>
        <p:spPr>
          <a:xfrm>
            <a:off x="9368118" y="3392910"/>
            <a:ext cx="259976" cy="300550"/>
          </a:xfrm>
          <a:prstGeom prst="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B06DB2C3-4D67-0F93-FE7F-AE4E6652C444}"/>
              </a:ext>
            </a:extLst>
          </p:cNvPr>
          <p:cNvSpPr/>
          <p:nvPr/>
        </p:nvSpPr>
        <p:spPr>
          <a:xfrm>
            <a:off x="1183341" y="3325905"/>
            <a:ext cx="2429435" cy="482655"/>
          </a:xfrm>
          <a:prstGeom prst="rect">
            <a:avLst/>
          </a:prstGeom>
          <a:noFill/>
          <a:ln w="28575">
            <a:solidFill>
              <a:srgbClr val="E84E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E81200E6-A5B1-7877-B2C9-4A649B9DC4D1}"/>
              </a:ext>
            </a:extLst>
          </p:cNvPr>
          <p:cNvSpPr/>
          <p:nvPr/>
        </p:nvSpPr>
        <p:spPr>
          <a:xfrm>
            <a:off x="10367098" y="3392909"/>
            <a:ext cx="345726" cy="324598"/>
          </a:xfrm>
          <a:prstGeom prst="rect">
            <a:avLst/>
          </a:prstGeom>
          <a:noFill/>
          <a:ln w="285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0304DA8C-7F43-8EB4-2338-D8A1AAA08539}"/>
              </a:ext>
            </a:extLst>
          </p:cNvPr>
          <p:cNvSpPr/>
          <p:nvPr/>
        </p:nvSpPr>
        <p:spPr>
          <a:xfrm>
            <a:off x="1108220" y="4245702"/>
            <a:ext cx="2504555" cy="460769"/>
          </a:xfrm>
          <a:prstGeom prst="rect">
            <a:avLst/>
          </a:prstGeom>
          <a:noFill/>
          <a:ln w="285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B067898B-1006-5DA7-2193-0505BD4175BB}"/>
              </a:ext>
            </a:extLst>
          </p:cNvPr>
          <p:cNvSpPr/>
          <p:nvPr/>
        </p:nvSpPr>
        <p:spPr>
          <a:xfrm>
            <a:off x="8677835" y="3245463"/>
            <a:ext cx="1066800" cy="581615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0207E00F-B9CD-9D11-9791-1F022AC47D85}"/>
              </a:ext>
            </a:extLst>
          </p:cNvPr>
          <p:cNvSpPr/>
          <p:nvPr/>
        </p:nvSpPr>
        <p:spPr>
          <a:xfrm>
            <a:off x="837615" y="5264458"/>
            <a:ext cx="5850056" cy="423921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016AB472-07CF-CDE0-51BD-748F24FAD8FA}"/>
              </a:ext>
            </a:extLst>
          </p:cNvPr>
          <p:cNvSpPr/>
          <p:nvPr/>
        </p:nvSpPr>
        <p:spPr>
          <a:xfrm>
            <a:off x="9791788" y="3245463"/>
            <a:ext cx="1066800" cy="581615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462EAFDF-E5AE-3488-BF43-C9E71C89FA96}"/>
              </a:ext>
            </a:extLst>
          </p:cNvPr>
          <p:cNvSpPr/>
          <p:nvPr/>
        </p:nvSpPr>
        <p:spPr>
          <a:xfrm>
            <a:off x="1421986" y="5713752"/>
            <a:ext cx="4548508" cy="287195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29124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F8B157-8552-505E-9229-BDF6BAB4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Correlation</a:t>
            </a:r>
            <a:endParaRPr lang="de-CH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885CDF47-3C9F-6D74-4832-8B38BF8888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5E9FC2-2847-080D-82EB-122D20AFFAF0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060E6CA1-998E-48BE-8665-ADEA6D5E94BC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BBE1046-0E24-0C55-324F-6CA43FDE37E2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EAC321B-7500-4259-A00F-915439A35E15}" type="slidenum">
              <a:rPr lang="en-US" noProof="0" smtClean="0"/>
              <a:pPr/>
              <a:t>4</a:t>
            </a:fld>
            <a:endParaRPr lang="en-US" noProof="0"/>
          </a:p>
        </p:txBody>
      </p:sp>
      <p:pic>
        <p:nvPicPr>
          <p:cNvPr id="8" name="Inhaltsplatzhalter 8">
            <a:extLst>
              <a:ext uri="{FF2B5EF4-FFF2-40B4-BE49-F238E27FC236}">
                <a16:creationId xmlns:a16="http://schemas.microsoft.com/office/drawing/2014/main" id="{CC563562-EFBC-4BDF-E505-CB9FFA8792A4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rcRect r="43975"/>
          <a:stretch/>
        </p:blipFill>
        <p:spPr>
          <a:xfrm>
            <a:off x="4141694" y="1556429"/>
            <a:ext cx="4212446" cy="697775"/>
          </a:xfr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70392F8F-8500-0AD0-F8F8-CC584526B163}"/>
              </a:ext>
            </a:extLst>
          </p:cNvPr>
          <p:cNvSpPr txBox="1"/>
          <p:nvPr/>
        </p:nvSpPr>
        <p:spPr>
          <a:xfrm>
            <a:off x="806449" y="2434270"/>
            <a:ext cx="11053763" cy="3731580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 err="1">
                <a:ea typeface="Roboto Medium" panose="02000000000000000000" pitchFamily="2" charset="0"/>
              </a:rPr>
              <a:t>Product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of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Differences</a:t>
            </a:r>
            <a:r>
              <a:rPr lang="de-CH" sz="2000" dirty="0">
                <a:ea typeface="Roboto Medium" panose="02000000000000000000" pitchFamily="2" charset="0"/>
              </a:rPr>
              <a:t>:  </a:t>
            </a: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>
              <a:ea typeface="Roboto Medium" panose="02000000000000000000" pitchFamily="2" charset="0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>
              <a:ea typeface="Roboto Medium" panose="02000000000000000000" pitchFamily="2" charset="0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>
                <a:ea typeface="Roboto Medium" panose="02000000000000000000" pitchFamily="2" charset="0"/>
              </a:rPr>
              <a:t>Squares </a:t>
            </a:r>
            <a:r>
              <a:rPr lang="de-CH" sz="2000" dirty="0" err="1">
                <a:ea typeface="Roboto Medium" panose="02000000000000000000" pitchFamily="2" charset="0"/>
              </a:rPr>
              <a:t>of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Differences</a:t>
            </a:r>
            <a:endParaRPr lang="de-CH" sz="2000" dirty="0">
              <a:ea typeface="Roboto Medium" panose="02000000000000000000" pitchFamily="2" charset="0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>
              <a:ea typeface="Roboto Medium" panose="02000000000000000000" pitchFamily="2" charset="0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>
              <a:ea typeface="Roboto Medium" panose="02000000000000000000" pitchFamily="2" charset="0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>
              <a:ea typeface="Roboto Medium" panose="02000000000000000000" pitchFamily="2" charset="0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 err="1">
                <a:ea typeface="Roboto Medium" panose="02000000000000000000" pitchFamily="2" charset="0"/>
              </a:rPr>
              <a:t>Substituting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into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the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formula</a:t>
            </a:r>
            <a:r>
              <a:rPr lang="de-CH" sz="2000" dirty="0">
                <a:ea typeface="Roboto Medium" panose="02000000000000000000" pitchFamily="2" charset="0"/>
              </a:rPr>
              <a:t>:</a:t>
            </a: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>
              <a:ea typeface="Roboto Medium" panose="02000000000000000000" pitchFamily="2" charset="0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516DBC41-9435-2AB3-707D-9DF0B43D01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610" y="2943156"/>
            <a:ext cx="6839905" cy="485843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64B44168-B0F1-D354-79EF-67CF28D521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610" y="4067762"/>
            <a:ext cx="5877745" cy="885949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3AA427C0-5B61-3F96-E1A6-C3A80335E0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0168" y="5547413"/>
            <a:ext cx="2495898" cy="762106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6D8D8DD8-9678-112F-FC1A-4D8E137ED0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6066" y="5860073"/>
            <a:ext cx="1419423" cy="485843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D2D3E30D-3F12-C7A8-80F8-17138094A5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34355" y="3651673"/>
            <a:ext cx="4686954" cy="1771897"/>
          </a:xfrm>
          <a:prstGeom prst="rect">
            <a:avLst/>
          </a:prstGeom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46CFB93F-4B06-DEFE-578D-2EBD523A1443}"/>
              </a:ext>
            </a:extLst>
          </p:cNvPr>
          <p:cNvSpPr/>
          <p:nvPr/>
        </p:nvSpPr>
        <p:spPr>
          <a:xfrm>
            <a:off x="1147482" y="2943156"/>
            <a:ext cx="6329083" cy="485843"/>
          </a:xfrm>
          <a:prstGeom prst="rect">
            <a:avLst/>
          </a:prstGeom>
          <a:noFill/>
          <a:ln w="28575">
            <a:solidFill>
              <a:srgbClr val="D72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1" name="Rechteck 20">
            <a:extLst>
              <a:ext uri="{FF2B5EF4-FFF2-40B4-BE49-F238E27FC236}">
                <a16:creationId xmlns:a16="http://schemas.microsoft.com/office/drawing/2014/main" id="{805C22CC-8B63-3EF7-EBD7-F6772492005E}"/>
              </a:ext>
            </a:extLst>
          </p:cNvPr>
          <p:cNvSpPr/>
          <p:nvPr/>
        </p:nvSpPr>
        <p:spPr>
          <a:xfrm>
            <a:off x="8354140" y="3738282"/>
            <a:ext cx="2698376" cy="672353"/>
          </a:xfrm>
          <a:prstGeom prst="rect">
            <a:avLst/>
          </a:prstGeom>
          <a:noFill/>
          <a:ln w="28575">
            <a:solidFill>
              <a:srgbClr val="D72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FF0C8DD6-C0EE-8942-1E2A-11CB2B2FA669}"/>
              </a:ext>
            </a:extLst>
          </p:cNvPr>
          <p:cNvSpPr/>
          <p:nvPr/>
        </p:nvSpPr>
        <p:spPr>
          <a:xfrm>
            <a:off x="8182789" y="4532932"/>
            <a:ext cx="1606670" cy="768639"/>
          </a:xfrm>
          <a:prstGeom prst="rect">
            <a:avLst/>
          </a:prstGeom>
          <a:noFill/>
          <a:ln w="28575">
            <a:solidFill>
              <a:srgbClr val="008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3" name="Rechteck 22">
            <a:extLst>
              <a:ext uri="{FF2B5EF4-FFF2-40B4-BE49-F238E27FC236}">
                <a16:creationId xmlns:a16="http://schemas.microsoft.com/office/drawing/2014/main" id="{5BE130DE-C44C-295F-4014-D5952A1A5494}"/>
              </a:ext>
            </a:extLst>
          </p:cNvPr>
          <p:cNvSpPr/>
          <p:nvPr/>
        </p:nvSpPr>
        <p:spPr>
          <a:xfrm>
            <a:off x="1056609" y="4134531"/>
            <a:ext cx="5532449" cy="331057"/>
          </a:xfrm>
          <a:prstGeom prst="rect">
            <a:avLst/>
          </a:prstGeom>
          <a:noFill/>
          <a:ln w="28575">
            <a:solidFill>
              <a:srgbClr val="008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332DC106-1E35-DB22-FE02-B35ECDD88DAE}"/>
              </a:ext>
            </a:extLst>
          </p:cNvPr>
          <p:cNvSpPr/>
          <p:nvPr/>
        </p:nvSpPr>
        <p:spPr>
          <a:xfrm>
            <a:off x="1945341" y="4532932"/>
            <a:ext cx="3863788" cy="348745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E9F3370-598D-6578-2A3D-88456D111534}"/>
              </a:ext>
            </a:extLst>
          </p:cNvPr>
          <p:cNvSpPr/>
          <p:nvPr/>
        </p:nvSpPr>
        <p:spPr>
          <a:xfrm>
            <a:off x="9812687" y="4568357"/>
            <a:ext cx="1606670" cy="672353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80474C2-553E-5839-8D18-A938382678A5}"/>
              </a:ext>
            </a:extLst>
          </p:cNvPr>
          <p:cNvSpPr/>
          <p:nvPr/>
        </p:nvSpPr>
        <p:spPr>
          <a:xfrm>
            <a:off x="2232212" y="5659243"/>
            <a:ext cx="726141" cy="223517"/>
          </a:xfrm>
          <a:prstGeom prst="rect">
            <a:avLst/>
          </a:prstGeom>
          <a:noFill/>
          <a:ln w="28575">
            <a:solidFill>
              <a:srgbClr val="D728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8" name="Rechteck 27">
            <a:extLst>
              <a:ext uri="{FF2B5EF4-FFF2-40B4-BE49-F238E27FC236}">
                <a16:creationId xmlns:a16="http://schemas.microsoft.com/office/drawing/2014/main" id="{9028B2B7-9151-EC95-B9BD-951373AE70F1}"/>
              </a:ext>
            </a:extLst>
          </p:cNvPr>
          <p:cNvSpPr/>
          <p:nvPr/>
        </p:nvSpPr>
        <p:spPr>
          <a:xfrm>
            <a:off x="2133600" y="5951491"/>
            <a:ext cx="654119" cy="232558"/>
          </a:xfrm>
          <a:prstGeom prst="rect">
            <a:avLst/>
          </a:prstGeom>
          <a:noFill/>
          <a:ln w="28575">
            <a:solidFill>
              <a:srgbClr val="0086C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29" name="Rechteck 28">
            <a:extLst>
              <a:ext uri="{FF2B5EF4-FFF2-40B4-BE49-F238E27FC236}">
                <a16:creationId xmlns:a16="http://schemas.microsoft.com/office/drawing/2014/main" id="{3A7BFA75-D937-93AF-D330-2B71E20920B1}"/>
              </a:ext>
            </a:extLst>
          </p:cNvPr>
          <p:cNvSpPr/>
          <p:nvPr/>
        </p:nvSpPr>
        <p:spPr>
          <a:xfrm>
            <a:off x="2885011" y="5966124"/>
            <a:ext cx="406428" cy="232559"/>
          </a:xfrm>
          <a:prstGeom prst="rect">
            <a:avLst/>
          </a:prstGeom>
          <a:noFill/>
          <a:ln w="28575"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5001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2CE39B6-BEED-D42A-67B5-830D4B11B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50" y="692150"/>
            <a:ext cx="11053763" cy="684213"/>
          </a:xfrm>
        </p:spPr>
        <p:txBody>
          <a:bodyPr anchor="ctr">
            <a:normAutofit/>
          </a:bodyPr>
          <a:lstStyle/>
          <a:p>
            <a:r>
              <a:rPr lang="de-CH" dirty="0" err="1"/>
              <a:t>What</a:t>
            </a:r>
            <a:r>
              <a:rPr lang="de-CH" dirty="0"/>
              <a:t> </a:t>
            </a:r>
            <a:r>
              <a:rPr lang="de-CH" dirty="0" err="1"/>
              <a:t>can</a:t>
            </a:r>
            <a:r>
              <a:rPr lang="de-CH" dirty="0"/>
              <a:t> </a:t>
            </a:r>
            <a:r>
              <a:rPr lang="de-CH" dirty="0" err="1"/>
              <a:t>be</a:t>
            </a:r>
            <a:r>
              <a:rPr lang="de-CH" dirty="0"/>
              <a:t> </a:t>
            </a:r>
            <a:r>
              <a:rPr lang="de-CH" dirty="0" err="1"/>
              <a:t>said</a:t>
            </a:r>
            <a:r>
              <a:rPr lang="de-CH" dirty="0"/>
              <a:t> </a:t>
            </a:r>
            <a:r>
              <a:rPr lang="de-CH" dirty="0" err="1"/>
              <a:t>about</a:t>
            </a:r>
            <a:r>
              <a:rPr lang="de-CH" dirty="0"/>
              <a:t> </a:t>
            </a:r>
            <a:r>
              <a:rPr lang="de-CH" dirty="0" err="1"/>
              <a:t>this</a:t>
            </a:r>
            <a:r>
              <a:rPr lang="de-CH" dirty="0"/>
              <a:t> </a:t>
            </a:r>
            <a:r>
              <a:rPr lang="de-CH" dirty="0" err="1"/>
              <a:t>graph</a:t>
            </a:r>
            <a:r>
              <a:rPr lang="de-CH" dirty="0"/>
              <a:t>?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786B417-720D-BD74-5EC2-3A6F90F650F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06449" y="334039"/>
            <a:ext cx="11053764" cy="286673"/>
          </a:xfrm>
        </p:spPr>
        <p:txBody>
          <a:bodyPr>
            <a:normAutofit lnSpcReduction="10000"/>
          </a:bodyPr>
          <a:lstStyle/>
          <a:p>
            <a:endParaRPr lang="en-US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053CCBD8-552C-5F62-8BFD-902C3D18AA2A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06450" y="1449388"/>
            <a:ext cx="5364163" cy="4751387"/>
          </a:xfrm>
        </p:spPr>
        <p:txBody>
          <a:bodyPr/>
          <a:lstStyle/>
          <a:p>
            <a:r>
              <a:rPr lang="en-US" dirty="0"/>
              <a:t>Positive Correlation</a:t>
            </a:r>
          </a:p>
          <a:p>
            <a:r>
              <a:rPr lang="en-US" dirty="0"/>
              <a:t>The two numbers do show a correlation, but one does not explain the other</a:t>
            </a:r>
          </a:p>
          <a:p>
            <a:r>
              <a:rPr lang="en-US" dirty="0"/>
              <a:t>Correlation </a:t>
            </a:r>
            <a:r>
              <a:rPr lang="de-CH" b="0" i="0" dirty="0">
                <a:solidFill>
                  <a:srgbClr val="040C28"/>
                </a:solidFill>
                <a:effectLst/>
                <a:latin typeface="Google Sans"/>
              </a:rPr>
              <a:t>≠</a:t>
            </a:r>
            <a:r>
              <a:rPr lang="en-US" b="0" i="0" dirty="0">
                <a:solidFill>
                  <a:srgbClr val="040C28"/>
                </a:solidFill>
                <a:effectLst/>
                <a:latin typeface="Google Sans"/>
              </a:rPr>
              <a:t> </a:t>
            </a:r>
            <a:r>
              <a:rPr lang="en-US" dirty="0">
                <a:solidFill>
                  <a:srgbClr val="040C28"/>
                </a:solidFill>
                <a:latin typeface="+mj-lt"/>
              </a:rPr>
              <a:t>C</a:t>
            </a:r>
            <a:r>
              <a:rPr lang="en-US" b="0" i="0" dirty="0">
                <a:solidFill>
                  <a:srgbClr val="040C28"/>
                </a:solidFill>
                <a:effectLst/>
                <a:latin typeface="+mj-lt"/>
              </a:rPr>
              <a:t>ausality</a:t>
            </a:r>
          </a:p>
          <a:p>
            <a:r>
              <a:rPr lang="en-US" dirty="0">
                <a:solidFill>
                  <a:srgbClr val="040C28"/>
                </a:solidFill>
                <a:latin typeface="+mj-lt"/>
              </a:rPr>
              <a:t>What would a negative correlation look like?</a:t>
            </a:r>
            <a:endParaRPr lang="en-US" dirty="0">
              <a:latin typeface="+mj-lt"/>
            </a:endParaRPr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6FE6053D-C333-283E-1EA1-11E3DC3897DC}"/>
              </a:ext>
            </a:extLst>
          </p:cNvPr>
          <p:cNvPicPr>
            <a:picLocks noGrp="1" noChangeAspect="1"/>
          </p:cNvPicPr>
          <p:nvPr>
            <p:ph sz="quarter" idx="27"/>
          </p:nvPr>
        </p:nvPicPr>
        <p:blipFill>
          <a:blip r:embed="rId2"/>
          <a:stretch>
            <a:fillRect/>
          </a:stretch>
        </p:blipFill>
        <p:spPr>
          <a:xfrm>
            <a:off x="7027388" y="1539081"/>
            <a:ext cx="4301486" cy="4751387"/>
          </a:xfrm>
          <a:noFill/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BC9045B-91D0-B3F2-64A6-80ABFDBE3771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>
            <a:off x="6494464" y="6453187"/>
            <a:ext cx="3376650" cy="17938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060E6CA1-998E-48BE-8665-ADEA6D5E94BC}" type="datetime3">
              <a:rPr lang="en-US" smtClean="0"/>
              <a:pPr>
                <a:lnSpc>
                  <a:spcPct val="90000"/>
                </a:lnSpc>
                <a:spcAft>
                  <a:spcPts val="600"/>
                </a:spcAft>
              </a:pPr>
              <a:t>6 May 2026</a:t>
            </a:fld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50BD0A2-50C4-6E58-9D0C-863E08E875A2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>
          <a:xfrm>
            <a:off x="268996" y="6453187"/>
            <a:ext cx="537454" cy="1793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4EAC321B-7500-4259-A00F-915439A35E15}" type="slidenum">
              <a:rPr lang="en-US" noProof="0" smtClean="0"/>
              <a:pPr>
                <a:lnSpc>
                  <a:spcPct val="90000"/>
                </a:lnSpc>
                <a:spcAft>
                  <a:spcPts val="600"/>
                </a:spcAft>
              </a:pPr>
              <a:t>5</a:t>
            </a:fld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6705648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09592A-CD69-CAEC-4C60-9F62F8466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Chi Square 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DA7FDF4-9957-E7AA-A7C2-EA8B1530F2E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de-CH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3A337A1-1A15-37A9-A27E-15D7422E9C5D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BFD6BAD-2A7F-49B6-B3C9-9B3977780D35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85851EA9-3C85-EB59-C8AE-970A9B8C6A45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6</a:t>
            </a:fld>
            <a:endParaRPr lang="de-CH" dirty="0"/>
          </a:p>
        </p:txBody>
      </p:sp>
      <p:sp>
        <p:nvSpPr>
          <p:cNvPr id="22" name="Inhaltsplatzhalter 21">
            <a:extLst>
              <a:ext uri="{FF2B5EF4-FFF2-40B4-BE49-F238E27FC236}">
                <a16:creationId xmlns:a16="http://schemas.microsoft.com/office/drawing/2014/main" id="{3A2C2E98-91A1-2F13-77B8-558B598291F6}"/>
              </a:ext>
            </a:extLst>
          </p:cNvPr>
          <p:cNvSpPr>
            <a:spLocks noGrp="1"/>
          </p:cNvSpPr>
          <p:nvPr>
            <p:ph sz="quarter" idx="26"/>
          </p:nvPr>
        </p:nvSpPr>
        <p:spPr>
          <a:xfrm>
            <a:off x="806450" y="1449388"/>
            <a:ext cx="11053763" cy="4751387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OST wants to determine whether there is a relationship between the field of study and the preferred mode of commuting to OST. For this purpose, 200 students were surveyed.</a:t>
            </a:r>
            <a:endParaRPr lang="de-CH" dirty="0"/>
          </a:p>
        </p:txBody>
      </p:sp>
      <p:graphicFrame>
        <p:nvGraphicFramePr>
          <p:cNvPr id="23" name="Tabelle 22">
            <a:extLst>
              <a:ext uri="{FF2B5EF4-FFF2-40B4-BE49-F238E27FC236}">
                <a16:creationId xmlns:a16="http://schemas.microsoft.com/office/drawing/2014/main" id="{5F52388E-311E-6035-C100-01B059D69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4032552"/>
              </p:ext>
            </p:extLst>
          </p:nvPr>
        </p:nvGraphicFramePr>
        <p:xfrm>
          <a:off x="2416969" y="2561712"/>
          <a:ext cx="6858000" cy="2217821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1527695699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4079577444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156383415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 fontAlgn="auto"/>
                      <a:endParaRPr lang="en-US" sz="16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Computer Science Students observed (expected)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WING Students observed (expected)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7145510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Public Transport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60 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40 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8339976"/>
                  </a:ext>
                </a:extLst>
              </a:tr>
              <a:tr h="425216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Car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30 </a:t>
                      </a: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50 </a:t>
                      </a: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128257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Bicycle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20 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20 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32713"/>
                  </a:ext>
                </a:extLst>
              </a:tr>
            </a:tbl>
          </a:graphicData>
        </a:graphic>
      </p:graphicFrame>
      <p:sp>
        <p:nvSpPr>
          <p:cNvPr id="24" name="Rectangle 10">
            <a:extLst>
              <a:ext uri="{FF2B5EF4-FFF2-40B4-BE49-F238E27FC236}">
                <a16:creationId xmlns:a16="http://schemas.microsoft.com/office/drawing/2014/main" id="{0D616F99-BB11-5521-6519-5554C38B4C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7763" y="2562506"/>
            <a:ext cx="12198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79171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54FB6E-396B-9772-4697-0E4233E71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Chi Square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6D1ACD5-2261-25F1-BC78-3671094A1D2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pic>
        <p:nvPicPr>
          <p:cNvPr id="11" name="Inhaltsplatzhalter 10">
            <a:extLst>
              <a:ext uri="{FF2B5EF4-FFF2-40B4-BE49-F238E27FC236}">
                <a16:creationId xmlns:a16="http://schemas.microsoft.com/office/drawing/2014/main" id="{0BB48F92-9CB4-D86C-98AF-1E044396858E}"/>
              </a:ext>
            </a:extLst>
          </p:cNvPr>
          <p:cNvPicPr>
            <a:picLocks noGrp="1" noChangeAspect="1"/>
          </p:cNvPicPr>
          <p:nvPr>
            <p:ph sz="quarter" idx="26"/>
          </p:nvPr>
        </p:nvPicPr>
        <p:blipFill>
          <a:blip r:embed="rId2"/>
          <a:stretch>
            <a:fillRect/>
          </a:stretch>
        </p:blipFill>
        <p:spPr>
          <a:xfrm>
            <a:off x="674126" y="4640113"/>
            <a:ext cx="4696480" cy="1057423"/>
          </a:xfrm>
        </p:spPr>
      </p:pic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0A3BD179-DE26-A38A-D0A2-26BC88997B73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BFD6BAD-2A7F-49B6-B3C9-9B3977780D35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CAB7E788-AC42-B3A2-861D-21E917D47147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7</a:t>
            </a:fld>
            <a:endParaRPr lang="de-CH" dirty="0"/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C392D81B-811C-28C0-A9E3-17F7AF0A86D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32723749"/>
              </p:ext>
            </p:extLst>
          </p:nvPr>
        </p:nvGraphicFramePr>
        <p:xfrm>
          <a:off x="2184400" y="1737763"/>
          <a:ext cx="7829550" cy="261175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830985141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40225006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1264435835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116178097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 fontAlgn="auto"/>
                      <a:endParaRPr lang="en-US" sz="16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Computer Science Students observed (expected)</a:t>
                      </a:r>
                      <a:endParaRPr lang="en-US" sz="16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WING Students observed (expected)</a:t>
                      </a:r>
                      <a:endParaRPr lang="en-US" sz="16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Summe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b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6507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Public Transport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60 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40 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52724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Car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30 </a:t>
                      </a: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50 </a:t>
                      </a: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28043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Bicycle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20 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20 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7302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 err="1">
                          <a:solidFill>
                            <a:srgbClr val="191919"/>
                          </a:solidFill>
                          <a:effectLst/>
                        </a:rPr>
                        <a:t>Summe</a:t>
                      </a:r>
                      <a:endParaRPr lang="en-US" sz="1600" b="1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110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110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220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86851"/>
                  </a:ext>
                </a:extLst>
              </a:tr>
            </a:tbl>
          </a:graphicData>
        </a:graphic>
      </p:graphicFrame>
      <p:pic>
        <p:nvPicPr>
          <p:cNvPr id="14" name="Grafik 13">
            <a:extLst>
              <a:ext uri="{FF2B5EF4-FFF2-40B4-BE49-F238E27FC236}">
                <a16:creationId xmlns:a16="http://schemas.microsoft.com/office/drawing/2014/main" id="{AC41BAD2-4443-4D98-DAFC-607AD7196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9095" y="4522893"/>
            <a:ext cx="504895" cy="466790"/>
          </a:xfrm>
          <a:prstGeom prst="rect">
            <a:avLst/>
          </a:prstGeom>
        </p:spPr>
      </p:pic>
      <p:sp>
        <p:nvSpPr>
          <p:cNvPr id="15" name="Textfeld 14">
            <a:extLst>
              <a:ext uri="{FF2B5EF4-FFF2-40B4-BE49-F238E27FC236}">
                <a16:creationId xmlns:a16="http://schemas.microsoft.com/office/drawing/2014/main" id="{42AD9258-12FB-C283-F8FD-DA944C0869FC}"/>
              </a:ext>
            </a:extLst>
          </p:cNvPr>
          <p:cNvSpPr txBox="1"/>
          <p:nvPr/>
        </p:nvSpPr>
        <p:spPr>
          <a:xfrm>
            <a:off x="5643282" y="2980764"/>
            <a:ext cx="914400" cy="914400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 err="1">
              <a:ea typeface="Roboto Medium" panose="02000000000000000000" pitchFamily="2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11D915A2-A3A9-9DAB-7143-E1170F556C37}"/>
              </a:ext>
            </a:extLst>
          </p:cNvPr>
          <p:cNvSpPr txBox="1"/>
          <p:nvPr/>
        </p:nvSpPr>
        <p:spPr>
          <a:xfrm>
            <a:off x="6723529" y="4522893"/>
            <a:ext cx="5136683" cy="1642957"/>
          </a:xfrm>
          <a:prstGeom prst="rect">
            <a:avLst/>
          </a:prstGeom>
          <a:noFill/>
        </p:spPr>
        <p:txBody>
          <a:bodyPr wrap="none" lIns="108000" tIns="36000" rIns="108000" bIns="108000" rtlCol="0">
            <a:normAutofit/>
          </a:bodyPr>
          <a:lstStyle/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CH" sz="2000" dirty="0">
                <a:ea typeface="Roboto Medium" panose="02000000000000000000" pitchFamily="2" charset="0"/>
              </a:rPr>
              <a:t>       = The </a:t>
            </a:r>
            <a:r>
              <a:rPr lang="de-CH" sz="2000" dirty="0" err="1">
                <a:ea typeface="Roboto Medium" panose="02000000000000000000" pitchFamily="2" charset="0"/>
              </a:rPr>
              <a:t>observed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value</a:t>
            </a:r>
            <a:r>
              <a:rPr lang="de-CH" sz="2000" dirty="0">
                <a:ea typeface="Roboto Medium" panose="02000000000000000000" pitchFamily="2" charset="0"/>
              </a:rPr>
              <a:t> in </a:t>
            </a:r>
            <a:r>
              <a:rPr lang="de-CH" sz="2000" dirty="0" err="1">
                <a:ea typeface="Roboto Medium" panose="02000000000000000000" pitchFamily="2" charset="0"/>
              </a:rPr>
              <a:t>the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cell</a:t>
            </a:r>
            <a:endParaRPr lang="de-CH" sz="2000" dirty="0">
              <a:ea typeface="Roboto Medium" panose="02000000000000000000" pitchFamily="2" charset="0"/>
            </a:endParaRP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CH" sz="2000" dirty="0">
                <a:ea typeface="Roboto Medium" panose="02000000000000000000" pitchFamily="2" charset="0"/>
              </a:rPr>
              <a:t>       = The </a:t>
            </a:r>
            <a:r>
              <a:rPr lang="de-CH" sz="2000" dirty="0" err="1">
                <a:ea typeface="Roboto Medium" panose="02000000000000000000" pitchFamily="2" charset="0"/>
              </a:rPr>
              <a:t>expected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value</a:t>
            </a:r>
            <a:r>
              <a:rPr lang="de-CH" sz="2000" dirty="0">
                <a:ea typeface="Roboto Medium" panose="02000000000000000000" pitchFamily="2" charset="0"/>
              </a:rPr>
              <a:t> in </a:t>
            </a:r>
            <a:r>
              <a:rPr lang="de-CH" sz="2000" dirty="0" err="1">
                <a:ea typeface="Roboto Medium" panose="02000000000000000000" pitchFamily="2" charset="0"/>
              </a:rPr>
              <a:t>the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cell</a:t>
            </a:r>
            <a:endParaRPr lang="de-CH" sz="2000" dirty="0">
              <a:ea typeface="Roboto Medium" panose="02000000000000000000" pitchFamily="2" charset="0"/>
            </a:endParaRP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CH" sz="2000" dirty="0">
                <a:ea typeface="Roboto Medium" panose="02000000000000000000" pitchFamily="2" charset="0"/>
              </a:rPr>
              <a:t>     = </a:t>
            </a:r>
            <a:r>
              <a:rPr lang="de-CH" sz="2000" dirty="0" err="1">
                <a:ea typeface="Roboto Medium" panose="02000000000000000000" pitchFamily="2" charset="0"/>
              </a:rPr>
              <a:t>Number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of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columns</a:t>
            </a:r>
            <a:r>
              <a:rPr lang="de-CH" sz="2000" dirty="0">
                <a:ea typeface="Roboto Medium" panose="02000000000000000000" pitchFamily="2" charset="0"/>
              </a:rPr>
              <a:t> in </a:t>
            </a:r>
            <a:r>
              <a:rPr lang="de-CH" sz="2000" dirty="0" err="1">
                <a:ea typeface="Roboto Medium" panose="02000000000000000000" pitchFamily="2" charset="0"/>
              </a:rPr>
              <a:t>the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table</a:t>
            </a:r>
            <a:endParaRPr lang="de-CH" sz="2000" dirty="0">
              <a:ea typeface="Roboto Medium" panose="02000000000000000000" pitchFamily="2" charset="0"/>
            </a:endParaRPr>
          </a:p>
          <a:p>
            <a:pPr algn="l">
              <a:spcAft>
                <a:spcPts val="600"/>
              </a:spcAft>
              <a:buClr>
                <a:schemeClr val="tx2"/>
              </a:buClr>
            </a:pPr>
            <a:r>
              <a:rPr lang="de-CH" sz="2000" dirty="0">
                <a:ea typeface="Roboto Medium" panose="02000000000000000000" pitchFamily="2" charset="0"/>
              </a:rPr>
              <a:t>     = </a:t>
            </a:r>
            <a:r>
              <a:rPr lang="de-CH" sz="2000" dirty="0" err="1">
                <a:ea typeface="Roboto Medium" panose="02000000000000000000" pitchFamily="2" charset="0"/>
              </a:rPr>
              <a:t>Number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of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rows</a:t>
            </a:r>
            <a:r>
              <a:rPr lang="de-CH" sz="2000" dirty="0">
                <a:ea typeface="Roboto Medium" panose="02000000000000000000" pitchFamily="2" charset="0"/>
              </a:rPr>
              <a:t> in </a:t>
            </a:r>
            <a:r>
              <a:rPr lang="de-CH" sz="2000" dirty="0" err="1">
                <a:ea typeface="Roboto Medium" panose="02000000000000000000" pitchFamily="2" charset="0"/>
              </a:rPr>
              <a:t>the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table</a:t>
            </a:r>
            <a:endParaRPr lang="de-CH" sz="2000" dirty="0">
              <a:ea typeface="Roboto Medium" panose="02000000000000000000" pitchFamily="2" charset="0"/>
            </a:endParaRPr>
          </a:p>
        </p:txBody>
      </p:sp>
      <p:pic>
        <p:nvPicPr>
          <p:cNvPr id="18" name="Grafik 17">
            <a:extLst>
              <a:ext uri="{FF2B5EF4-FFF2-40B4-BE49-F238E27FC236}">
                <a16:creationId xmlns:a16="http://schemas.microsoft.com/office/drawing/2014/main" id="{173D739D-81D9-5A74-4880-070339BC28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4832" y="4954481"/>
            <a:ext cx="419158" cy="428685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994831BF-3F7B-B322-E712-EBE8E22A111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8147" y="5326860"/>
            <a:ext cx="276264" cy="400106"/>
          </a:xfrm>
          <a:prstGeom prst="rect">
            <a:avLst/>
          </a:prstGeom>
        </p:spPr>
      </p:pic>
      <p:pic>
        <p:nvPicPr>
          <p:cNvPr id="22" name="Grafik 21">
            <a:extLst>
              <a:ext uri="{FF2B5EF4-FFF2-40B4-BE49-F238E27FC236}">
                <a16:creationId xmlns:a16="http://schemas.microsoft.com/office/drawing/2014/main" id="{9E46E48B-58D1-5D91-B6A7-29EB055B1D0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463" y="5740467"/>
            <a:ext cx="314369" cy="35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584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58141A-82D0-1465-754A-FA71D04D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Chi Square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5877E7F-B739-EB75-284E-F8D6F18E59B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3E7190E1-1F6B-68AC-A217-9E861B8842EC}"/>
              </a:ext>
            </a:extLst>
          </p:cNvPr>
          <p:cNvGraphicFramePr>
            <a:graphicFrameLocks noGrp="1"/>
          </p:cNvGraphicFramePr>
          <p:nvPr>
            <p:ph sz="quarter" idx="26"/>
            <p:extLst>
              <p:ext uri="{D42A27DB-BD31-4B8C-83A1-F6EECF244321}">
                <p14:modId xmlns:p14="http://schemas.microsoft.com/office/powerpoint/2010/main" val="4178054082"/>
              </p:ext>
            </p:extLst>
          </p:nvPr>
        </p:nvGraphicFramePr>
        <p:xfrm>
          <a:off x="2418556" y="1666046"/>
          <a:ext cx="7829550" cy="261175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830985141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40225006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1264435835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116178097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 fontAlgn="auto"/>
                      <a:endParaRPr lang="en-US" sz="16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Computer Science Students observed (expected)</a:t>
                      </a:r>
                      <a:endParaRPr lang="en-US" sz="16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WING Students observed (expected)</a:t>
                      </a:r>
                      <a:endParaRPr lang="en-US" sz="16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Sum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b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6507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Public Transport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60 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40 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52724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Car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30 </a:t>
                      </a: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50 </a:t>
                      </a: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28043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Bicycle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20 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20 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7302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</a:rPr>
                        <a:t>Sum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110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110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220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86851"/>
                  </a:ext>
                </a:extLst>
              </a:tr>
            </a:tbl>
          </a:graphicData>
        </a:graphic>
      </p:graphicFrame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36EA610F-014B-BC7C-CF4C-8F410ED3A7AB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BFD6BAD-2A7F-49B6-B3C9-9B3977780D35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8B5B36D-5400-9448-69D7-EE365FC4C59A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8</a:t>
            </a:fld>
            <a:endParaRPr lang="de-CH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A6BDBD32-AF92-382E-183B-AF2A413CD3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498363"/>
            <a:ext cx="1219835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altLang="de-DE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3E8EBA0D-EC36-08AF-593B-3D03CE407CDC}"/>
              </a:ext>
            </a:extLst>
          </p:cNvPr>
          <p:cNvSpPr txBox="1"/>
          <p:nvPr/>
        </p:nvSpPr>
        <p:spPr>
          <a:xfrm>
            <a:off x="5643282" y="2980764"/>
            <a:ext cx="914400" cy="914400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 err="1">
              <a:ea typeface="Roboto Medium" panose="02000000000000000000" pitchFamily="2" charset="0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980384CD-0BCF-47DE-79C4-CB81F19D2AA9}"/>
              </a:ext>
            </a:extLst>
          </p:cNvPr>
          <p:cNvSpPr txBox="1"/>
          <p:nvPr/>
        </p:nvSpPr>
        <p:spPr>
          <a:xfrm>
            <a:off x="806450" y="4277554"/>
            <a:ext cx="11053763" cy="1888296"/>
          </a:xfrm>
          <a:prstGeom prst="rect">
            <a:avLst/>
          </a:prstGeom>
          <a:noFill/>
        </p:spPr>
        <p:txBody>
          <a:bodyPr wrap="none" lIns="108000" tIns="36000" rIns="108000" bIns="108000" rtlCol="0">
            <a:normAutofit/>
          </a:bodyPr>
          <a:lstStyle/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 err="1">
                <a:ea typeface="Roboto Medium" panose="02000000000000000000" pitchFamily="2" charset="0"/>
              </a:rPr>
              <a:t>Calculate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the</a:t>
            </a:r>
            <a:r>
              <a:rPr lang="de-CH" sz="2000" dirty="0">
                <a:ea typeface="Roboto Medium" panose="02000000000000000000" pitchFamily="2" charset="0"/>
              </a:rPr>
              <a:t> sums </a:t>
            </a:r>
            <a:r>
              <a:rPr lang="de-CH" sz="2000" dirty="0" err="1">
                <a:ea typeface="Roboto Medium" panose="02000000000000000000" pitchFamily="2" charset="0"/>
              </a:rPr>
              <a:t>of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rows</a:t>
            </a:r>
            <a:r>
              <a:rPr lang="de-CH" sz="2000" dirty="0">
                <a:ea typeface="Roboto Medium" panose="02000000000000000000" pitchFamily="2" charset="0"/>
              </a:rPr>
              <a:t> and </a:t>
            </a:r>
            <a:r>
              <a:rPr lang="de-CH" sz="2000" dirty="0" err="1">
                <a:ea typeface="Roboto Medium" panose="02000000000000000000" pitchFamily="2" charset="0"/>
              </a:rPr>
              <a:t>columns</a:t>
            </a:r>
            <a:endParaRPr lang="de-CH" sz="2000" dirty="0"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3994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BC6DF1-B529-603F-8679-102289038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Chi Square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3F9B872-3E92-4EA7-B7E4-BE0FEE7E47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8FA11363-06F8-8BFA-48AC-107197F8E631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BFD6BAD-2A7F-49B6-B3C9-9B3977780D35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F718D230-BE82-215A-0A39-06CF0B81C1DC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9</a:t>
            </a:fld>
            <a:endParaRPr lang="de-CH" dirty="0"/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B6C564C6-20D2-C94E-B5FE-8016604A37B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05861973"/>
              </p:ext>
            </p:extLst>
          </p:nvPr>
        </p:nvGraphicFramePr>
        <p:xfrm>
          <a:off x="2418556" y="1508312"/>
          <a:ext cx="7829550" cy="2461260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830985141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40225006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1264435835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116178097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 fontAlgn="auto"/>
                      <a:endParaRPr lang="en-US" sz="16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Computer Science Students observed (expected)</a:t>
                      </a:r>
                      <a:endParaRPr lang="en-US" sz="16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WING Students observed (expected)</a:t>
                      </a:r>
                      <a:endParaRPr lang="en-US" sz="16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Summe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b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6507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ÖV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60 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40 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52724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Auto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30 </a:t>
                      </a: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50 </a:t>
                      </a: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28043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 err="1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Fahrrad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20 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20 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7302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 err="1">
                          <a:solidFill>
                            <a:srgbClr val="191919"/>
                          </a:solidFill>
                          <a:effectLst/>
                        </a:rPr>
                        <a:t>Summe</a:t>
                      </a:r>
                      <a:endParaRPr lang="en-US" sz="1600" b="1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110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110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220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86851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15DA12AF-73DC-95A9-7A31-53B3421F55A6}"/>
                  </a:ext>
                </a:extLst>
              </p:cNvPr>
              <p:cNvSpPr txBox="1"/>
              <p:nvPr/>
            </p:nvSpPr>
            <p:spPr>
              <a:xfrm>
                <a:off x="4728881" y="4190298"/>
                <a:ext cx="7131331" cy="2247899"/>
              </a:xfrm>
              <a:prstGeom prst="rect">
                <a:avLst/>
              </a:prstGeom>
              <a:noFill/>
            </p:spPr>
            <p:txBody>
              <a:bodyPr wrap="square" lIns="108000" tIns="36000" rIns="108000" bIns="108000" rtlCol="0">
                <a:normAutofit/>
              </a:bodyPr>
              <a:lstStyle/>
              <a:p>
                <a:pPr marL="252000" indent="-252000" algn="l"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de-CH" sz="2000" dirty="0">
                    <a:ea typeface="Roboto Medium" panose="02000000000000000000" pitchFamily="2" charset="0"/>
                  </a:rPr>
                  <a:t>Calculate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sz="2000" b="0" i="1" smtClean="0">
                            <a:latin typeface="Cambria Math" panose="02040503050406030204" pitchFamily="18" charset="0"/>
                            <a:ea typeface="Roboto Medium" panose="02000000000000000000" pitchFamily="2" charset="0"/>
                          </a:rPr>
                        </m:ctrlPr>
                      </m:sSubPr>
                      <m:e>
                        <m:r>
                          <a:rPr lang="de-CH" sz="2000" b="0" i="1" smtClean="0">
                            <a:latin typeface="Cambria Math" panose="02040503050406030204" pitchFamily="18" charset="0"/>
                            <a:ea typeface="Roboto Medium" panose="02000000000000000000" pitchFamily="2" charset="0"/>
                          </a:rPr>
                          <m:t>𝑒</m:t>
                        </m:r>
                      </m:e>
                      <m:sub>
                        <m:r>
                          <a:rPr lang="de-CH" sz="2000" b="0" i="1" smtClean="0">
                            <a:latin typeface="Cambria Math" panose="02040503050406030204" pitchFamily="18" charset="0"/>
                            <a:ea typeface="Roboto Medium" panose="02000000000000000000" pitchFamily="2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rPr lang="de-CH" sz="2000" dirty="0">
                    <a:ea typeface="Roboto Medium" panose="02000000000000000000" pitchFamily="2" charset="0"/>
                  </a:rPr>
                  <a:t> </a:t>
                </a:r>
                <a:r>
                  <a:rPr lang="de-CH" sz="2000" dirty="0" err="1">
                    <a:ea typeface="Roboto Medium" panose="02000000000000000000" pitchFamily="2" charset="0"/>
                  </a:rPr>
                  <a:t>for</a:t>
                </a:r>
                <a:r>
                  <a:rPr lang="de-CH" sz="2000" dirty="0">
                    <a:ea typeface="Roboto Medium" panose="02000000000000000000" pitchFamily="2" charset="0"/>
                  </a:rPr>
                  <a:t> </a:t>
                </a:r>
                <a:r>
                  <a:rPr lang="de-CH" sz="2000" dirty="0" err="1">
                    <a:ea typeface="Roboto Medium" panose="02000000000000000000" pitchFamily="2" charset="0"/>
                  </a:rPr>
                  <a:t>each</a:t>
                </a:r>
                <a:r>
                  <a:rPr lang="de-CH" sz="2000" dirty="0">
                    <a:ea typeface="Roboto Medium" panose="02000000000000000000" pitchFamily="2" charset="0"/>
                  </a:rPr>
                  <a:t> </a:t>
                </a:r>
                <a:r>
                  <a:rPr lang="de-CH" sz="2000" dirty="0" err="1">
                    <a:ea typeface="Roboto Medium" panose="02000000000000000000" pitchFamily="2" charset="0"/>
                  </a:rPr>
                  <a:t>cell</a:t>
                </a:r>
                <a:endParaRPr lang="de-CH" sz="2000" dirty="0">
                  <a:ea typeface="Roboto Medium" panose="02000000000000000000" pitchFamily="2" charset="0"/>
                </a:endParaRPr>
              </a:p>
              <a:p>
                <a:pPr marL="252000" indent="-252000" algn="l"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de-CH" sz="2000" dirty="0" err="1">
                    <a:ea typeface="Roboto Medium" panose="02000000000000000000" pitchFamily="2" charset="0"/>
                  </a:rPr>
                  <a:t>Example</a:t>
                </a:r>
                <a:r>
                  <a:rPr lang="de-CH" sz="2000" dirty="0">
                    <a:ea typeface="Roboto Medium" panose="02000000000000000000" pitchFamily="2" charset="0"/>
                  </a:rPr>
                  <a:t> </a:t>
                </a:r>
                <a:r>
                  <a:rPr lang="de-CH" sz="2000" dirty="0" err="1">
                    <a:ea typeface="Roboto Medium" panose="02000000000000000000" pitchFamily="2" charset="0"/>
                  </a:rPr>
                  <a:t>for</a:t>
                </a:r>
                <a:r>
                  <a:rPr lang="de-CH" sz="2000" dirty="0">
                    <a:ea typeface="Roboto Medium" panose="02000000000000000000" pitchFamily="2" charset="0"/>
                  </a:rPr>
                  <a:t> </a:t>
                </a:r>
                <a:r>
                  <a:rPr lang="de-CH" sz="2000" dirty="0" err="1">
                    <a:ea typeface="Roboto Medium" panose="02000000000000000000" pitchFamily="2" charset="0"/>
                  </a:rPr>
                  <a:t>the</a:t>
                </a:r>
                <a:r>
                  <a:rPr lang="de-CH" sz="2000" dirty="0">
                    <a:ea typeface="Roboto Medium" panose="02000000000000000000" pitchFamily="2" charset="0"/>
                  </a:rPr>
                  <a:t> top </a:t>
                </a:r>
                <a:r>
                  <a:rPr lang="de-CH" sz="2000" dirty="0" err="1">
                    <a:ea typeface="Roboto Medium" panose="02000000000000000000" pitchFamily="2" charset="0"/>
                  </a:rPr>
                  <a:t>right</a:t>
                </a:r>
                <a:r>
                  <a:rPr lang="de-CH" sz="2000" dirty="0">
                    <a:ea typeface="Roboto Medium" panose="02000000000000000000" pitchFamily="2" charset="0"/>
                  </a:rPr>
                  <a:t> </a:t>
                </a:r>
                <a:r>
                  <a:rPr lang="de-CH" sz="2000" dirty="0" err="1">
                    <a:ea typeface="Roboto Medium" panose="02000000000000000000" pitchFamily="2" charset="0"/>
                  </a:rPr>
                  <a:t>cell</a:t>
                </a:r>
                <a:r>
                  <a:rPr lang="de-CH" sz="2000" dirty="0">
                    <a:ea typeface="Roboto Medium" panose="02000000000000000000" pitchFamily="2" charset="0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sz="2000" b="0" i="1" smtClean="0">
                            <a:latin typeface="Cambria Math" panose="02040503050406030204" pitchFamily="18" charset="0"/>
                            <a:ea typeface="Roboto Medium" panose="02000000000000000000" pitchFamily="2" charset="0"/>
                          </a:rPr>
                        </m:ctrlPr>
                      </m:fPr>
                      <m:num>
                        <m:r>
                          <a:rPr lang="de-CH" sz="2000" b="0" i="0" smtClean="0">
                            <a:latin typeface="Cambria Math" panose="02040503050406030204" pitchFamily="18" charset="0"/>
                            <a:ea typeface="Roboto Medium" panose="02000000000000000000" pitchFamily="2" charset="0"/>
                          </a:rPr>
                          <m:t>100 ∗110</m:t>
                        </m:r>
                      </m:num>
                      <m:den>
                        <m:r>
                          <a:rPr lang="de-CH" sz="2000" b="0" i="1" smtClean="0">
                            <a:latin typeface="Cambria Math" panose="02040503050406030204" pitchFamily="18" charset="0"/>
                            <a:ea typeface="Roboto Medium" panose="02000000000000000000" pitchFamily="2" charset="0"/>
                          </a:rPr>
                          <m:t>220</m:t>
                        </m:r>
                      </m:den>
                    </m:f>
                  </m:oMath>
                </a14:m>
                <a:r>
                  <a:rPr lang="de-CH" sz="2000" dirty="0">
                    <a:ea typeface="Roboto Medium" panose="02000000000000000000" pitchFamily="2" charset="0"/>
                  </a:rPr>
                  <a:t> = 50</a:t>
                </a:r>
              </a:p>
            </p:txBody>
          </p:sp>
        </mc:Choice>
        <mc:Fallback xmlns="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15DA12AF-73DC-95A9-7A31-53B3421F55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28881" y="4190298"/>
                <a:ext cx="7131331" cy="2247899"/>
              </a:xfrm>
              <a:prstGeom prst="rect">
                <a:avLst/>
              </a:prstGeom>
              <a:blipFill>
                <a:blip r:embed="rId2"/>
                <a:stretch>
                  <a:fillRect l="-598" t="-1897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Inhaltsplatzhalter 10">
            <a:extLst>
              <a:ext uri="{FF2B5EF4-FFF2-40B4-BE49-F238E27FC236}">
                <a16:creationId xmlns:a16="http://schemas.microsoft.com/office/drawing/2014/main" id="{2B656550-905D-ABF0-DF95-FB3F9F8E4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393355"/>
            <a:ext cx="4247497" cy="956333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8792FA8D-14EA-789E-BF40-484F4D66EA49}"/>
              </a:ext>
            </a:extLst>
          </p:cNvPr>
          <p:cNvSpPr/>
          <p:nvPr/>
        </p:nvSpPr>
        <p:spPr>
          <a:xfrm>
            <a:off x="8406021" y="4634753"/>
            <a:ext cx="364844" cy="179388"/>
          </a:xfrm>
          <a:prstGeom prst="rect">
            <a:avLst/>
          </a:prstGeom>
          <a:noFill/>
          <a:ln w="28575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AE9B710-902B-2C55-7C1F-BE326CBD8BCB}"/>
              </a:ext>
            </a:extLst>
          </p:cNvPr>
          <p:cNvSpPr/>
          <p:nvPr/>
        </p:nvSpPr>
        <p:spPr>
          <a:xfrm>
            <a:off x="9529967" y="2361659"/>
            <a:ext cx="519467" cy="256939"/>
          </a:xfrm>
          <a:prstGeom prst="rect">
            <a:avLst/>
          </a:prstGeom>
          <a:noFill/>
          <a:ln w="285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C52FC12A-68E5-F362-6422-B890F87B0DA7}"/>
              </a:ext>
            </a:extLst>
          </p:cNvPr>
          <p:cNvSpPr/>
          <p:nvPr/>
        </p:nvSpPr>
        <p:spPr>
          <a:xfrm>
            <a:off x="8894013" y="4634753"/>
            <a:ext cx="364844" cy="179388"/>
          </a:xfrm>
          <a:prstGeom prst="rect">
            <a:avLst/>
          </a:prstGeom>
          <a:noFill/>
          <a:ln w="285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7" name="Rechteck 16">
            <a:extLst>
              <a:ext uri="{FF2B5EF4-FFF2-40B4-BE49-F238E27FC236}">
                <a16:creationId xmlns:a16="http://schemas.microsoft.com/office/drawing/2014/main" id="{514812C0-EAD3-0799-1979-D509F2959AEB}"/>
              </a:ext>
            </a:extLst>
          </p:cNvPr>
          <p:cNvSpPr/>
          <p:nvPr/>
        </p:nvSpPr>
        <p:spPr>
          <a:xfrm>
            <a:off x="4023379" y="3655540"/>
            <a:ext cx="364971" cy="226540"/>
          </a:xfrm>
          <a:prstGeom prst="rect">
            <a:avLst/>
          </a:prstGeom>
          <a:noFill/>
          <a:ln w="28575">
            <a:solidFill>
              <a:srgbClr val="0070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8" name="Rechteck 17">
            <a:extLst>
              <a:ext uri="{FF2B5EF4-FFF2-40B4-BE49-F238E27FC236}">
                <a16:creationId xmlns:a16="http://schemas.microsoft.com/office/drawing/2014/main" id="{BF20AC08-E0CB-09ED-1BFF-28F20DF6751F}"/>
              </a:ext>
            </a:extLst>
          </p:cNvPr>
          <p:cNvSpPr/>
          <p:nvPr/>
        </p:nvSpPr>
        <p:spPr>
          <a:xfrm>
            <a:off x="8585106" y="4903694"/>
            <a:ext cx="430306" cy="179388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sp>
        <p:nvSpPr>
          <p:cNvPr id="19" name="Rechteck 18">
            <a:extLst>
              <a:ext uri="{FF2B5EF4-FFF2-40B4-BE49-F238E27FC236}">
                <a16:creationId xmlns:a16="http://schemas.microsoft.com/office/drawing/2014/main" id="{3D95D7F8-CBB2-322E-CD30-4A93EBDBF0B1}"/>
              </a:ext>
            </a:extLst>
          </p:cNvPr>
          <p:cNvSpPr/>
          <p:nvPr/>
        </p:nvSpPr>
        <p:spPr>
          <a:xfrm>
            <a:off x="9529967" y="3648528"/>
            <a:ext cx="430306" cy="256938"/>
          </a:xfrm>
          <a:prstGeom prst="rect">
            <a:avLst/>
          </a:prstGeom>
          <a:noFill/>
          <a:ln w="28575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endParaRPr lang="de-CH" sz="1400" dirty="0">
              <a:solidFill>
                <a:schemeClr val="tx1"/>
              </a:solidFill>
            </a:endParaRPr>
          </a:p>
        </p:txBody>
      </p:sp>
      <p:pic>
        <p:nvPicPr>
          <p:cNvPr id="20" name="Grafik 19">
            <a:extLst>
              <a:ext uri="{FF2B5EF4-FFF2-40B4-BE49-F238E27FC236}">
                <a16:creationId xmlns:a16="http://schemas.microsoft.com/office/drawing/2014/main" id="{662CC558-C0D3-BAD0-1893-EBCB30A5B0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6449" y="5413308"/>
            <a:ext cx="3922432" cy="793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336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3C6647-FA34-10FB-05F6-CE8E8F2E1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Chi Square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80DF7DA-BF72-6BFA-CA61-6452ECF5F51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78B8F73-7C6A-6710-EA3E-F13BD753151D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BFD6BAD-2A7F-49B6-B3C9-9B3977780D35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540DEC1F-D2D8-8792-3255-DECE5F6B52DB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10</a:t>
            </a:fld>
            <a:endParaRPr lang="de-CH" dirty="0"/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819BA8D6-2DD7-2667-5C51-88F578398B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77591468"/>
              </p:ext>
            </p:extLst>
          </p:nvPr>
        </p:nvGraphicFramePr>
        <p:xfrm>
          <a:off x="2418556" y="1527923"/>
          <a:ext cx="7829550" cy="261175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830985141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40225006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1264435835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116178097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 fontAlgn="auto"/>
                      <a:endParaRPr lang="en-US" sz="16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76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Computer Science Students observed (expected)</a:t>
                      </a:r>
                      <a:endParaRPr lang="en-US" sz="16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76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WING Students observed (expected)</a:t>
                      </a:r>
                      <a:endParaRPr lang="en-US" sz="16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Sum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b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6507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Public Transport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60 (50)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40 (50)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52724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Car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30 (40)</a:t>
                      </a: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50 (40)</a:t>
                      </a: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28043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Bicycle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20 (20)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20 (20)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7302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</a:rPr>
                        <a:t>Sum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110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110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220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86851"/>
                  </a:ext>
                </a:extLst>
              </a:tr>
            </a:tbl>
          </a:graphicData>
        </a:graphic>
      </p:graphicFrame>
      <p:pic>
        <p:nvPicPr>
          <p:cNvPr id="10" name="Inhaltsplatzhalter 10">
            <a:extLst>
              <a:ext uri="{FF2B5EF4-FFF2-40B4-BE49-F238E27FC236}">
                <a16:creationId xmlns:a16="http://schemas.microsoft.com/office/drawing/2014/main" id="{28C94A63-7BEF-BA51-CFF8-F708CBBCDF9B}"/>
              </a:ext>
            </a:extLst>
          </p:cNvPr>
          <p:cNvPicPr>
            <a:picLocks noGrp="1" noChangeAspect="1"/>
          </p:cNvPicPr>
          <p:nvPr>
            <p:ph sz="quarter" idx="26"/>
          </p:nvPr>
        </p:nvPicPr>
        <p:blipFill>
          <a:blip r:embed="rId2"/>
          <a:stretch>
            <a:fillRect/>
          </a:stretch>
        </p:blipFill>
        <p:spPr>
          <a:xfrm>
            <a:off x="363350" y="4516678"/>
            <a:ext cx="4696480" cy="1057423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522E52BB-3B7E-25DF-4F57-92338163D739}"/>
              </a:ext>
            </a:extLst>
          </p:cNvPr>
          <p:cNvSpPr txBox="1"/>
          <p:nvPr/>
        </p:nvSpPr>
        <p:spPr>
          <a:xfrm>
            <a:off x="5643282" y="2980764"/>
            <a:ext cx="914400" cy="914400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 err="1">
              <a:ea typeface="Roboto Medium" panose="02000000000000000000" pitchFamily="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97F01ED8-C7BC-A8FB-A42E-2AE03FCC0517}"/>
                  </a:ext>
                </a:extLst>
              </p:cNvPr>
              <p:cNvSpPr txBox="1"/>
              <p:nvPr/>
            </p:nvSpPr>
            <p:spPr>
              <a:xfrm>
                <a:off x="5136776" y="4177553"/>
                <a:ext cx="6723437" cy="1988297"/>
              </a:xfrm>
              <a:prstGeom prst="rect">
                <a:avLst/>
              </a:prstGeom>
              <a:noFill/>
            </p:spPr>
            <p:txBody>
              <a:bodyPr wrap="none" lIns="108000" tIns="36000" rIns="108000" bIns="108000" rtlCol="0">
                <a:normAutofit/>
              </a:bodyPr>
              <a:lstStyle/>
              <a:p>
                <a:pPr marL="252000" indent="-252000"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Calculate and sum values for each cell</a:t>
                </a:r>
                <a:endParaRPr lang="de-CH" sz="2000" b="0" i="1" dirty="0">
                  <a:latin typeface="Cambria Math" panose="02040503050406030204" pitchFamily="18" charset="0"/>
                  <a:ea typeface="Roboto Medium" panose="02000000000000000000" pitchFamily="2" charset="0"/>
                </a:endParaRPr>
              </a:p>
              <a:p>
                <a:pPr marL="252000" indent="-252000"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de-CH" sz="2000" b="0" i="1" smtClean="0">
                            <a:latin typeface="Cambria Math" panose="02040503050406030204" pitchFamily="18" charset="0"/>
                            <a:ea typeface="Roboto Medium" panose="02000000000000000000" pitchFamily="2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CH" sz="2000" b="0" i="1" smtClean="0">
                                <a:latin typeface="Cambria Math" panose="02040503050406030204" pitchFamily="18" charset="0"/>
                                <a:ea typeface="Roboto Medium" panose="02000000000000000000" pitchFamily="2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CH" sz="2000" b="0" i="1" smtClean="0">
                                    <a:latin typeface="Cambria Math" panose="02040503050406030204" pitchFamily="18" charset="0"/>
                                    <a:ea typeface="Roboto Medium" panose="02000000000000000000" pitchFamily="2" charset="0"/>
                                  </a:rPr>
                                </m:ctrlPr>
                              </m:dPr>
                              <m:e>
                                <m:r>
                                  <a:rPr lang="de-CH" sz="2000" b="0" i="1" smtClean="0">
                                    <a:latin typeface="Cambria Math" panose="02040503050406030204" pitchFamily="18" charset="0"/>
                                    <a:ea typeface="Roboto Medium" panose="02000000000000000000" pitchFamily="2" charset="0"/>
                                  </a:rPr>
                                  <m:t>60−50</m:t>
                                </m:r>
                              </m:e>
                            </m:d>
                          </m:e>
                          <m:sup>
                            <m:r>
                              <a:rPr lang="de-CH" sz="2000" b="0" i="1" smtClean="0">
                                <a:latin typeface="Cambria Math" panose="02040503050406030204" pitchFamily="18" charset="0"/>
                                <a:ea typeface="Roboto Medium" panose="02000000000000000000" pitchFamily="2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de-CH" sz="2000" b="0" i="1" smtClean="0">
                                <a:latin typeface="Cambria Math" panose="02040503050406030204" pitchFamily="18" charset="0"/>
                                <a:ea typeface="Roboto Medium" panose="02000000000000000000" pitchFamily="2" charset="0"/>
                              </a:rPr>
                            </m:ctrlPr>
                          </m:sSupPr>
                          <m:e>
                            <m:r>
                              <a:rPr lang="de-CH" sz="2000" b="0" i="1" smtClean="0">
                                <a:latin typeface="Cambria Math" panose="02040503050406030204" pitchFamily="18" charset="0"/>
                                <a:ea typeface="Roboto Medium" panose="02000000000000000000" pitchFamily="2" charset="0"/>
                              </a:rPr>
                              <m:t>50</m:t>
                            </m:r>
                          </m:e>
                          <m:sup/>
                        </m:sSup>
                      </m:den>
                    </m:f>
                    <m:r>
                      <a:rPr lang="de-CH" sz="2000" b="0" i="1" smtClean="0">
                        <a:latin typeface="Cambria Math" panose="02040503050406030204" pitchFamily="18" charset="0"/>
                        <a:ea typeface="Roboto Medium" panose="02000000000000000000" pitchFamily="2" charset="0"/>
                      </a:rPr>
                      <m:t>+</m:t>
                    </m:r>
                  </m:oMath>
                </a14:m>
                <a:r>
                  <a:rPr lang="de-CH" sz="2000" dirty="0">
                    <a:ea typeface="Roboto Medium" panose="02000000000000000000" pitchFamily="2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sz="2000" i="1">
                            <a:latin typeface="Cambria Math" panose="02040503050406030204" pitchFamily="18" charset="0"/>
                            <a:ea typeface="Roboto Medium" panose="02000000000000000000" pitchFamily="2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de-CH" sz="2000" i="1">
                                <a:latin typeface="Cambria Math" panose="02040503050406030204" pitchFamily="18" charset="0"/>
                                <a:ea typeface="Roboto Medium" panose="02000000000000000000" pitchFamily="2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de-CH" sz="2000" i="1">
                                    <a:latin typeface="Cambria Math" panose="02040503050406030204" pitchFamily="18" charset="0"/>
                                    <a:ea typeface="Roboto Medium" panose="02000000000000000000" pitchFamily="2" charset="0"/>
                                  </a:rPr>
                                </m:ctrlPr>
                              </m:dPr>
                              <m:e>
                                <m:r>
                                  <a:rPr lang="de-CH" sz="2000" b="0" i="1" smtClean="0">
                                    <a:latin typeface="Cambria Math" panose="02040503050406030204" pitchFamily="18" charset="0"/>
                                    <a:ea typeface="Roboto Medium" panose="02000000000000000000" pitchFamily="2" charset="0"/>
                                  </a:rPr>
                                  <m:t>30</m:t>
                                </m:r>
                                <m:r>
                                  <a:rPr lang="de-CH" sz="2000" i="1">
                                    <a:latin typeface="Cambria Math" panose="02040503050406030204" pitchFamily="18" charset="0"/>
                                    <a:ea typeface="Roboto Medium" panose="02000000000000000000" pitchFamily="2" charset="0"/>
                                  </a:rPr>
                                  <m:t>−</m:t>
                                </m:r>
                                <m:r>
                                  <a:rPr lang="de-CH" sz="2000" b="0" i="1" smtClean="0">
                                    <a:latin typeface="Cambria Math" panose="02040503050406030204" pitchFamily="18" charset="0"/>
                                    <a:ea typeface="Roboto Medium" panose="02000000000000000000" pitchFamily="2" charset="0"/>
                                  </a:rPr>
                                  <m:t>40</m:t>
                                </m:r>
                              </m:e>
                            </m:d>
                          </m:e>
                          <m:sup>
                            <m:r>
                              <a:rPr lang="de-CH" sz="2000" i="1">
                                <a:latin typeface="Cambria Math" panose="02040503050406030204" pitchFamily="18" charset="0"/>
                                <a:ea typeface="Roboto Medium" panose="02000000000000000000" pitchFamily="2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sSupPr>
                            <m:ctrlPr>
                              <a:rPr lang="de-CH" sz="2000" b="0" i="1" smtClean="0">
                                <a:latin typeface="Cambria Math" panose="02040503050406030204" pitchFamily="18" charset="0"/>
                                <a:ea typeface="Roboto Medium" panose="02000000000000000000" pitchFamily="2" charset="0"/>
                              </a:rPr>
                            </m:ctrlPr>
                          </m:sSupPr>
                          <m:e>
                            <m:r>
                              <a:rPr lang="de-CH" sz="2000" b="0" i="1" smtClean="0">
                                <a:latin typeface="Cambria Math" panose="02040503050406030204" pitchFamily="18" charset="0"/>
                                <a:ea typeface="Roboto Medium" panose="02000000000000000000" pitchFamily="2" charset="0"/>
                              </a:rPr>
                              <m:t>40</m:t>
                            </m:r>
                          </m:e>
                          <m:sup/>
                        </m:sSup>
                      </m:den>
                    </m:f>
                    <m:r>
                      <a:rPr lang="de-CH" sz="2000" b="0" i="1" smtClean="0">
                        <a:latin typeface="Cambria Math" panose="02040503050406030204" pitchFamily="18" charset="0"/>
                        <a:ea typeface="Roboto Medium" panose="02000000000000000000" pitchFamily="2" charset="0"/>
                      </a:rPr>
                      <m:t>…….</m:t>
                    </m:r>
                  </m:oMath>
                </a14:m>
                <a:endParaRPr lang="de-CH" sz="2000" b="0" dirty="0">
                  <a:ea typeface="Roboto Medium" panose="02000000000000000000" pitchFamily="2" charset="0"/>
                </a:endParaRPr>
              </a:p>
              <a:p>
                <a:pPr marL="252000" indent="-252000"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de-CH" sz="2000" dirty="0">
                    <a:ea typeface="Roboto Medium" panose="02000000000000000000" pitchFamily="2" charset="0"/>
                  </a:rPr>
                  <a:t>Solution:9</a:t>
                </a:r>
              </a:p>
            </p:txBody>
          </p:sp>
        </mc:Choice>
        <mc:Fallback>
          <p:sp>
            <p:nvSpPr>
              <p:cNvPr id="12" name="Textfeld 11">
                <a:extLst>
                  <a:ext uri="{FF2B5EF4-FFF2-40B4-BE49-F238E27FC236}">
                    <a16:creationId xmlns:a16="http://schemas.microsoft.com/office/drawing/2014/main" id="{97F01ED8-C7BC-A8FB-A42E-2AE03FCC05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36776" y="4177553"/>
                <a:ext cx="6723437" cy="1988297"/>
              </a:xfrm>
              <a:prstGeom prst="rect">
                <a:avLst/>
              </a:prstGeom>
              <a:blipFill>
                <a:blip r:embed="rId3"/>
                <a:stretch>
                  <a:fillRect l="-635" t="-184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15045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8FE8E3-AB3C-F57C-D5B5-0A312C972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450" y="641007"/>
            <a:ext cx="11053763" cy="684213"/>
          </a:xfrm>
        </p:spPr>
        <p:txBody>
          <a:bodyPr/>
          <a:lstStyle/>
          <a:p>
            <a:r>
              <a:rPr lang="de-CH" dirty="0"/>
              <a:t>Chi Square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E0E75BB-43C1-7CC2-213E-C0A07FC817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91841141-5A28-04E9-CD3E-F7F0895FE4ED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BFD6BAD-2A7F-49B6-B3C9-9B3977780D35}" type="datetime3">
              <a:rPr lang="en-US" smtClean="0"/>
              <a:t>6 May 2026</a:t>
            </a:fld>
            <a:endParaRPr lang="de-CH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E2DE39EC-65E1-A3AE-C8F9-15084BD75291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4EAC321B-7500-4259-A00F-915439A35E15}" type="slidenum">
              <a:rPr lang="de-CH" smtClean="0"/>
              <a:pPr/>
              <a:t>11</a:t>
            </a:fld>
            <a:endParaRPr lang="de-CH" dirty="0"/>
          </a:p>
        </p:txBody>
      </p:sp>
      <p:graphicFrame>
        <p:nvGraphicFramePr>
          <p:cNvPr id="9" name="Inhaltsplatzhalter 8">
            <a:extLst>
              <a:ext uri="{FF2B5EF4-FFF2-40B4-BE49-F238E27FC236}">
                <a16:creationId xmlns:a16="http://schemas.microsoft.com/office/drawing/2014/main" id="{38B88580-4DE5-472A-5D8E-0002D70D860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2930308"/>
              </p:ext>
            </p:extLst>
          </p:nvPr>
        </p:nvGraphicFramePr>
        <p:xfrm>
          <a:off x="2255838" y="1319754"/>
          <a:ext cx="7829550" cy="2611755"/>
        </p:xfrm>
        <a:graphic>
          <a:graphicData uri="http://schemas.openxmlformats.org/drawingml/2006/table">
            <a:tbl>
              <a:tblPr/>
              <a:tblGrid>
                <a:gridCol w="1524000">
                  <a:extLst>
                    <a:ext uri="{9D8B030D-6E8A-4147-A177-3AD203B41FA5}">
                      <a16:colId xmlns:a16="http://schemas.microsoft.com/office/drawing/2014/main" val="2830985141"/>
                    </a:ext>
                  </a:extLst>
                </a:gridCol>
                <a:gridCol w="2695575">
                  <a:extLst>
                    <a:ext uri="{9D8B030D-6E8A-4147-A177-3AD203B41FA5}">
                      <a16:colId xmlns:a16="http://schemas.microsoft.com/office/drawing/2014/main" val="402250062"/>
                    </a:ext>
                  </a:extLst>
                </a:gridCol>
                <a:gridCol w="2638425">
                  <a:extLst>
                    <a:ext uri="{9D8B030D-6E8A-4147-A177-3AD203B41FA5}">
                      <a16:colId xmlns:a16="http://schemas.microsoft.com/office/drawing/2014/main" val="1264435835"/>
                    </a:ext>
                  </a:extLst>
                </a:gridCol>
                <a:gridCol w="971550">
                  <a:extLst>
                    <a:ext uri="{9D8B030D-6E8A-4147-A177-3AD203B41FA5}">
                      <a16:colId xmlns:a16="http://schemas.microsoft.com/office/drawing/2014/main" val="1161780977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 algn="l" fontAlgn="auto"/>
                      <a:endParaRPr lang="en-US" sz="1600" b="1" i="0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76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Computer Science Students observed (expected)</a:t>
                      </a:r>
                      <a:endParaRPr lang="en-US" sz="16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768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WING Students observed (expected)</a:t>
                      </a:r>
                      <a:endParaRPr lang="en-US" sz="1600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1" i="0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Sum</a:t>
                      </a:r>
                      <a:endParaRPr lang="en-US" b="1" i="0" dirty="0">
                        <a:solidFill>
                          <a:srgbClr val="FFFFFF"/>
                        </a:solidFill>
                        <a:effectLst/>
                      </a:endParaRPr>
                    </a:p>
                  </a:txBody>
                  <a:tcPr anchor="b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B38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8665074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Public Transport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60 (50)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40 (50)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100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238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7527242"/>
                  </a:ext>
                </a:extLst>
              </a:tr>
              <a:tr h="4286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Car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30 (40)</a:t>
                      </a: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50 (40)</a:t>
                      </a: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80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8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280433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 err="1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Bycicle</a:t>
                      </a:r>
                      <a:endParaRPr lang="en-US" sz="1600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20 (20)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20 (20)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  <a:latin typeface="Arial" panose="020B0604020202020204" pitchFamily="34" charset="0"/>
                        </a:rPr>
                        <a:t>40</a:t>
                      </a:r>
                      <a:endParaRPr lang="en-US" b="0" i="0" dirty="0">
                        <a:solidFill>
                          <a:srgbClr val="191919"/>
                        </a:solidFill>
                        <a:effectLst/>
                      </a:endParaRP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CE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573022"/>
                  </a:ext>
                </a:extLst>
              </a:tr>
              <a:tr h="390525">
                <a:tc>
                  <a:txBody>
                    <a:bodyPr/>
                    <a:lstStyle/>
                    <a:p>
                      <a:pPr algn="r" fontAlgn="base"/>
                      <a:r>
                        <a:rPr lang="en-US" sz="1600" b="1" i="0" dirty="0">
                          <a:solidFill>
                            <a:srgbClr val="191919"/>
                          </a:solidFill>
                          <a:effectLst/>
                        </a:rPr>
                        <a:t>Sum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110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110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/>
                      <a:r>
                        <a:rPr lang="en-US" sz="1600" b="0" i="0" dirty="0">
                          <a:solidFill>
                            <a:srgbClr val="191919"/>
                          </a:solidFill>
                          <a:effectLst/>
                        </a:rPr>
                        <a:t>220</a:t>
                      </a:r>
                    </a:p>
                  </a:txBody>
                  <a:tcPr anchor="ctr">
                    <a:lnL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286851"/>
                  </a:ext>
                </a:extLst>
              </a:tr>
            </a:tbl>
          </a:graphicData>
        </a:graphic>
      </p:graphicFrame>
      <p:sp>
        <p:nvSpPr>
          <p:cNvPr id="12" name="Textfeld 11">
            <a:extLst>
              <a:ext uri="{FF2B5EF4-FFF2-40B4-BE49-F238E27FC236}">
                <a16:creationId xmlns:a16="http://schemas.microsoft.com/office/drawing/2014/main" id="{86F099F3-8BD6-CAFC-9F6B-D6ABE9DE867C}"/>
              </a:ext>
            </a:extLst>
          </p:cNvPr>
          <p:cNvSpPr txBox="1"/>
          <p:nvPr/>
        </p:nvSpPr>
        <p:spPr>
          <a:xfrm>
            <a:off x="778576" y="3928263"/>
            <a:ext cx="11053763" cy="232998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>
                <a:ea typeface="Roboto Medium" panose="02000000000000000000" pitchFamily="2" charset="0"/>
              </a:rPr>
              <a:t>Degrees </a:t>
            </a:r>
            <a:r>
              <a:rPr lang="de-CH" sz="2000" dirty="0" err="1">
                <a:ea typeface="Roboto Medium" panose="02000000000000000000" pitchFamily="2" charset="0"/>
              </a:rPr>
              <a:t>of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 err="1">
                <a:ea typeface="Roboto Medium" panose="02000000000000000000" pitchFamily="2" charset="0"/>
              </a:rPr>
              <a:t>freedom</a:t>
            </a:r>
            <a:r>
              <a:rPr lang="de-CH" sz="2000" dirty="0">
                <a:ea typeface="Roboto Medium" panose="02000000000000000000" pitchFamily="2" charset="0"/>
              </a:rPr>
              <a:t>  =					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 r =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rows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, c =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columns</a:t>
            </a:r>
            <a:endParaRPr lang="de-CH" sz="2000" dirty="0">
              <a:ea typeface="Roboto Medium" panose="02000000000000000000" pitchFamily="2" charset="0"/>
              <a:sym typeface="Wingdings" panose="05000000000000000000" pitchFamily="2" charset="2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(3-1) * (2-1) = 2</a:t>
            </a: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Compare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value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for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alpha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= 0.05  9 &gt; 5.991</a:t>
            </a: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Null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hypothesis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is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rejected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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There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is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a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relationship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between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the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field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of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study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and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the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mode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of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transportation</a:t>
            </a:r>
            <a:endParaRPr lang="de-CH" sz="2000" dirty="0">
              <a:ea typeface="Roboto Medium" panose="02000000000000000000" pitchFamily="2" charset="0"/>
              <a:sym typeface="Wingdings" panose="05000000000000000000" pitchFamily="2" charset="2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>
              <a:ea typeface="Roboto Medium" panose="02000000000000000000" pitchFamily="2" charset="0"/>
            </a:endParaRP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283B5EBD-4321-049E-7354-9F7745ABC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421" y="3937583"/>
            <a:ext cx="2086266" cy="381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6538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6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EF1DF5-0ECC-49CA-8174-9E0B95742C2E}" type="datetime4">
              <a:rPr lang="de-CH" smtClean="0"/>
              <a:pPr/>
              <a:t>6. Mai 2026</a:t>
            </a:fld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8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12</a:t>
            </a:fld>
            <a:endParaRPr lang="de-CH" dirty="0"/>
          </a:p>
        </p:txBody>
      </p:sp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Min-Max </a:t>
            </a:r>
            <a:r>
              <a:rPr lang="de-CH" dirty="0" err="1"/>
              <a:t>Normalization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/>
              <p:cNvSpPr>
                <a:spLocks noGrp="1"/>
              </p:cNvSpPr>
              <p:nvPr>
                <p:ph sz="quarter" idx="21"/>
              </p:nvPr>
            </p:nvSpPr>
            <p:spPr/>
            <p:txBody>
              <a:bodyPr/>
              <a:lstStyle/>
              <a:p>
                <a:r>
                  <a:rPr lang="de-CH" dirty="0"/>
                  <a:t>Task: </a:t>
                </a:r>
                <a:r>
                  <a:rPr lang="de-CH" dirty="0" err="1"/>
                  <a:t>Normalize</a:t>
                </a:r>
                <a:r>
                  <a:rPr lang="de-CH" dirty="0"/>
                  <a:t> </a:t>
                </a:r>
                <a:r>
                  <a:rPr lang="de-CH" dirty="0" err="1"/>
                  <a:t>the</a:t>
                </a:r>
                <a:r>
                  <a:rPr lang="de-CH" dirty="0"/>
                  <a:t> Value 48 in </a:t>
                </a:r>
                <a:r>
                  <a:rPr lang="de-CH" dirty="0" err="1"/>
                  <a:t>given</a:t>
                </a:r>
                <a:r>
                  <a:rPr lang="de-CH" dirty="0"/>
                  <a:t> Dataset.</a:t>
                </a:r>
              </a:p>
              <a:p>
                <a:r>
                  <a:rPr lang="de-CH" dirty="0"/>
                  <a:t>Given Dataset: 21,48,99</a:t>
                </a:r>
              </a:p>
              <a:p>
                <a:r>
                  <a:rPr lang="de-CH" dirty="0"/>
                  <a:t>Min-Max </a:t>
                </a:r>
                <a:r>
                  <a:rPr lang="de-CH" dirty="0" err="1"/>
                  <a:t>Normalization</a:t>
                </a:r>
                <a:r>
                  <a:rPr lang="de-CH" dirty="0"/>
                  <a:t>:</a:t>
                </a:r>
                <a:br>
                  <a:rPr lang="de-CH" dirty="0"/>
                </a:br>
                <a:r>
                  <a:rPr lang="de-CH" dirty="0"/>
                  <a:t>1. Find Minimum </a:t>
                </a:r>
                <a:r>
                  <a:rPr lang="de-CH" dirty="0">
                    <a:sym typeface="Wingdings" panose="05000000000000000000" pitchFamily="2" charset="2"/>
                  </a:rPr>
                  <a:t> 21</a:t>
                </a:r>
                <a:br>
                  <a:rPr lang="de-CH" dirty="0">
                    <a:sym typeface="Wingdings" panose="05000000000000000000" pitchFamily="2" charset="2"/>
                  </a:rPr>
                </a:br>
                <a:r>
                  <a:rPr lang="de-CH" dirty="0">
                    <a:sym typeface="Wingdings" panose="05000000000000000000" pitchFamily="2" charset="2"/>
                  </a:rPr>
                  <a:t>2. Find Maximum 99</a:t>
                </a:r>
              </a:p>
              <a:p>
                <a:r>
                  <a:rPr lang="de-CH" dirty="0" err="1">
                    <a:sym typeface="Wingdings" panose="05000000000000000000" pitchFamily="2" charset="2"/>
                  </a:rPr>
                  <a:t>Normalization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for</a:t>
                </a:r>
                <a:r>
                  <a:rPr lang="de-CH" dirty="0">
                    <a:sym typeface="Wingdings" panose="05000000000000000000" pitchFamily="2" charset="2"/>
                  </a:rPr>
                  <a:t> 48 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48−21</m:t>
                        </m:r>
                      </m:num>
                      <m:den>
                        <m: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99−21</m:t>
                        </m:r>
                      </m:den>
                    </m:f>
                    <m:r>
                      <a:rPr lang="de-CH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=0.346 </m:t>
                    </m:r>
                    <m:r>
                      <a:rPr lang="de-CH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CH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for</m:t>
                    </m:r>
                    <m:r>
                      <a:rPr lang="de-CH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</m:t>
                    </m:r>
                    <m:r>
                      <m:rPr>
                        <m:sty m:val="p"/>
                      </m:rPr>
                      <a:rPr lang="de-CH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range</m:t>
                    </m:r>
                    <m:r>
                      <a:rPr lang="de-CH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[0,1]</m:t>
                    </m:r>
                  </m:oMath>
                </a14:m>
                <a:endParaRPr lang="de-CH" b="0" dirty="0">
                  <a:sym typeface="Wingdings" panose="05000000000000000000" pitchFamily="2" charset="2"/>
                </a:endParaRPr>
              </a:p>
              <a:p>
                <a:r>
                  <a:rPr lang="de-CH" dirty="0" err="1">
                    <a:sym typeface="Wingdings" panose="05000000000000000000" pitchFamily="2" charset="2"/>
                  </a:rPr>
                  <a:t>Normalization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for</a:t>
                </a:r>
                <a:r>
                  <a:rPr lang="de-CH" dirty="0">
                    <a:sym typeface="Wingdings" panose="05000000000000000000" pitchFamily="2" charset="2"/>
                  </a:rPr>
                  <a:t> 48 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48−21</m:t>
                        </m:r>
                      </m:num>
                      <m:den>
                        <m: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99−21</m:t>
                        </m:r>
                      </m:den>
                    </m:f>
                    <m:r>
                      <a:rPr lang="de-CH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∗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1 −</m:t>
                        </m:r>
                        <m:d>
                          <m:dPr>
                            <m:ctrlPr>
                              <a:rPr lang="de-CH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de-CH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−1</m:t>
                            </m:r>
                          </m:e>
                        </m:d>
                      </m:e>
                    </m:d>
                    <m:r>
                      <a:rPr lang="de-CH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d>
                      <m:dPr>
                        <m:ctrlP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dPr>
                      <m:e>
                        <m: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−1</m:t>
                        </m:r>
                      </m:e>
                    </m:d>
                  </m:oMath>
                </a14:m>
                <a:r>
                  <a:rPr lang="de-CH" dirty="0">
                    <a:sym typeface="Wingdings" panose="05000000000000000000" pitchFamily="2" charset="2"/>
                  </a:rPr>
                  <a:t> for Range [-1, 1]</a:t>
                </a:r>
                <a:endParaRPr lang="de-CH" b="0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6" name="Inhaltsplatzhalt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1"/>
              </p:nvPr>
            </p:nvSpPr>
            <p:spPr>
              <a:blipFill>
                <a:blip r:embed="rId2"/>
                <a:stretch>
                  <a:fillRect l="-1323" t="-154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platzhalter 6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 err="1"/>
              <a:t>Normalization</a:t>
            </a:r>
            <a:endParaRPr lang="de-CH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68ECEA7-A8CF-081B-F754-0B882C8EFB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4581" y="3545633"/>
            <a:ext cx="2244221" cy="75940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F21A9106-2686-0B66-CCE2-237ADB146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57677" y="5297308"/>
            <a:ext cx="4925112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28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148C1F1-9F85-A5C6-F87F-B1FD0E48E9DF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EF1DF5-0ECC-49CA-8174-9E0B95742C2E}" type="datetime4">
              <a:rPr lang="de-CH" smtClean="0"/>
              <a:pPr/>
              <a:t>6. Mai 2026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293436C-1EB1-A749-D1EA-83B60EDE962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13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4C81832A-42D1-5188-A8C0-320CB727B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Normalization</a:t>
            </a:r>
            <a:r>
              <a:rPr lang="de-CH" dirty="0"/>
              <a:t> </a:t>
            </a:r>
            <a:r>
              <a:rPr lang="de-CH" dirty="0" err="1"/>
              <a:t>by</a:t>
            </a:r>
            <a:r>
              <a:rPr lang="de-CH" dirty="0"/>
              <a:t> </a:t>
            </a:r>
            <a:r>
              <a:rPr lang="de-CH" dirty="0" err="1"/>
              <a:t>Decimal</a:t>
            </a:r>
            <a:r>
              <a:rPr lang="de-CH" dirty="0"/>
              <a:t> </a:t>
            </a:r>
            <a:r>
              <a:rPr lang="de-CH" dirty="0" err="1"/>
              <a:t>Scaling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B5415D18-81EB-1896-75B9-ADB475AB6BDA}"/>
                  </a:ext>
                </a:extLst>
              </p:cNvPr>
              <p:cNvSpPr>
                <a:spLocks noGrp="1"/>
              </p:cNvSpPr>
              <p:nvPr>
                <p:ph sz="quarter" idx="21"/>
              </p:nvPr>
            </p:nvSpPr>
            <p:spPr/>
            <p:txBody>
              <a:bodyPr/>
              <a:lstStyle/>
              <a:p>
                <a:r>
                  <a:rPr lang="de-CH" dirty="0"/>
                  <a:t>Task: </a:t>
                </a:r>
                <a:r>
                  <a:rPr lang="de-CH" dirty="0" err="1"/>
                  <a:t>Normalize</a:t>
                </a:r>
                <a:r>
                  <a:rPr lang="de-CH" dirty="0"/>
                  <a:t> </a:t>
                </a:r>
                <a:r>
                  <a:rPr lang="de-CH" dirty="0" err="1"/>
                  <a:t>the</a:t>
                </a:r>
                <a:r>
                  <a:rPr lang="de-CH" dirty="0"/>
                  <a:t> </a:t>
                </a:r>
                <a:r>
                  <a:rPr lang="de-CH" dirty="0" err="1"/>
                  <a:t>value</a:t>
                </a:r>
                <a:r>
                  <a:rPr lang="de-CH" dirty="0"/>
                  <a:t> 48 in </a:t>
                </a:r>
                <a:r>
                  <a:rPr lang="de-CH" dirty="0" err="1"/>
                  <a:t>given</a:t>
                </a:r>
                <a:r>
                  <a:rPr lang="de-CH" dirty="0"/>
                  <a:t> </a:t>
                </a:r>
                <a:r>
                  <a:rPr lang="de-CH" dirty="0" err="1"/>
                  <a:t>dataset</a:t>
                </a:r>
                <a:r>
                  <a:rPr lang="de-CH" dirty="0"/>
                  <a:t>.</a:t>
                </a:r>
              </a:p>
              <a:p>
                <a:r>
                  <a:rPr lang="de-CH" dirty="0"/>
                  <a:t>Given </a:t>
                </a:r>
                <a:r>
                  <a:rPr lang="de-CH" dirty="0" err="1"/>
                  <a:t>dataset</a:t>
                </a:r>
                <a:r>
                  <a:rPr lang="de-CH" dirty="0"/>
                  <a:t>: 21,48,99</a:t>
                </a:r>
              </a:p>
              <a:p>
                <a:r>
                  <a:rPr lang="de-CH" dirty="0"/>
                  <a:t>Max </a:t>
                </a:r>
                <a:r>
                  <a:rPr lang="de-CH" dirty="0">
                    <a:sym typeface="Wingdings" panose="05000000000000000000" pitchFamily="2" charset="2"/>
                  </a:rPr>
                  <a:t>= 99  j = 2</a:t>
                </a:r>
              </a:p>
              <a:p>
                <a:r>
                  <a:rPr lang="de-CH" dirty="0">
                    <a:sym typeface="Wingdings" panose="05000000000000000000" pitchFamily="2" charset="2"/>
                  </a:rPr>
                  <a:t>Formula </a:t>
                </a:r>
                <a:r>
                  <a:rPr lang="de-CH" dirty="0" err="1">
                    <a:sym typeface="Wingdings" panose="05000000000000000000" pitchFamily="2" charset="2"/>
                  </a:rPr>
                  <a:t>for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Normalization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by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Decimal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Scaling</a:t>
                </a:r>
                <a:r>
                  <a:rPr lang="de-CH" dirty="0">
                    <a:sym typeface="Wingdings" panose="05000000000000000000" pitchFamily="2" charset="2"/>
                  </a:rPr>
                  <a:t> </a:t>
                </a:r>
              </a:p>
              <a:p>
                <a:r>
                  <a:rPr lang="de-CH" dirty="0" err="1">
                    <a:sym typeface="Wingdings" panose="05000000000000000000" pitchFamily="2" charset="2"/>
                  </a:rPr>
                  <a:t>Normalization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for</a:t>
                </a:r>
                <a:r>
                  <a:rPr lang="de-CH" dirty="0">
                    <a:sym typeface="Wingdings" panose="05000000000000000000" pitchFamily="2" charset="2"/>
                  </a:rPr>
                  <a:t> 48 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48</m:t>
                        </m:r>
                      </m:num>
                      <m:den>
                        <m:sSup>
                          <m:sSupPr>
                            <m:ctrlPr>
                              <a:rPr lang="de-CH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sSupPr>
                          <m:e>
                            <m:r>
                              <a:rPr lang="de-CH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10</m:t>
                            </m:r>
                          </m:e>
                          <m:sup>
                            <m:r>
                              <a:rPr lang="de-CH" b="0" i="1" smtClean="0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de-CH" b="0" i="0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=0.48</m:t>
                    </m:r>
                  </m:oMath>
                </a14:m>
                <a:endParaRPr lang="de-CH" dirty="0"/>
              </a:p>
              <a:p>
                <a:pPr marL="0" indent="0">
                  <a:buNone/>
                </a:pPr>
                <a:endParaRPr lang="de-CH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B5415D18-81EB-1896-75B9-ADB475AB6B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1"/>
              </p:nvPr>
            </p:nvSpPr>
            <p:spPr>
              <a:blipFill>
                <a:blip r:embed="rId2"/>
                <a:stretch>
                  <a:fillRect l="-1323" t="-154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9A829BC-C653-BCBD-3496-0ED1AA3203D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13049263-761E-8099-C6A4-EC7EF36E6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4464" y="2918101"/>
            <a:ext cx="1181265" cy="685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414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A31ED4CD-628F-7542-24DE-004A33DD42D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EF1DF5-0ECC-49CA-8174-9E0B95742C2E}" type="datetime4">
              <a:rPr lang="de-CH" smtClean="0"/>
              <a:pPr/>
              <a:t>6. Mai 2026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FC9092A-C247-AA81-869C-9C3EC4A9B06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14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84EC3065-ECC4-DBEE-9E6B-DF69B324B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Z-Score </a:t>
            </a:r>
            <a:r>
              <a:rPr lang="de-CH" dirty="0" err="1"/>
              <a:t>Normalization</a:t>
            </a:r>
            <a:endParaRPr lang="de-CH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F92CD729-E285-3567-C5AB-045420F7FC62}"/>
                  </a:ext>
                </a:extLst>
              </p:cNvPr>
              <p:cNvSpPr>
                <a:spLocks noGrp="1"/>
              </p:cNvSpPr>
              <p:nvPr>
                <p:ph sz="quarter" idx="21"/>
              </p:nvPr>
            </p:nvSpPr>
            <p:spPr/>
            <p:txBody>
              <a:bodyPr/>
              <a:lstStyle/>
              <a:p>
                <a:r>
                  <a:rPr lang="de-CH" dirty="0"/>
                  <a:t>Task: </a:t>
                </a:r>
                <a:r>
                  <a:rPr lang="de-CH" dirty="0" err="1"/>
                  <a:t>Normalize</a:t>
                </a:r>
                <a:r>
                  <a:rPr lang="de-CH" dirty="0"/>
                  <a:t> </a:t>
                </a:r>
                <a:r>
                  <a:rPr lang="de-CH" dirty="0" err="1"/>
                  <a:t>the</a:t>
                </a:r>
                <a:r>
                  <a:rPr lang="de-CH" dirty="0"/>
                  <a:t> </a:t>
                </a:r>
                <a:r>
                  <a:rPr lang="de-CH" dirty="0" err="1"/>
                  <a:t>value</a:t>
                </a:r>
                <a:r>
                  <a:rPr lang="de-CH" dirty="0"/>
                  <a:t> 48 in </a:t>
                </a:r>
                <a:r>
                  <a:rPr lang="de-CH" dirty="0" err="1"/>
                  <a:t>given</a:t>
                </a:r>
                <a:r>
                  <a:rPr lang="de-CH" dirty="0"/>
                  <a:t> </a:t>
                </a:r>
                <a:r>
                  <a:rPr lang="de-CH" dirty="0" err="1"/>
                  <a:t>dataset</a:t>
                </a:r>
                <a:endParaRPr lang="de-CH" dirty="0"/>
              </a:p>
              <a:p>
                <a:r>
                  <a:rPr lang="de-CH" dirty="0"/>
                  <a:t>Given </a:t>
                </a:r>
                <a:r>
                  <a:rPr lang="de-CH" dirty="0" err="1"/>
                  <a:t>dataset</a:t>
                </a:r>
                <a:r>
                  <a:rPr lang="de-CH" dirty="0"/>
                  <a:t>: 21,48,99</a:t>
                </a:r>
              </a:p>
              <a:p>
                <a:r>
                  <a:rPr lang="de-CH" dirty="0"/>
                  <a:t> </a:t>
                </a:r>
                <a:r>
                  <a:rPr lang="de-CH" dirty="0" err="1"/>
                  <a:t>Calculating</a:t>
                </a:r>
                <a:r>
                  <a:rPr lang="de-CH" dirty="0"/>
                  <a:t> </a:t>
                </a:r>
                <a:r>
                  <a:rPr lang="de-CH" dirty="0" err="1"/>
                  <a:t>standard</a:t>
                </a:r>
                <a:r>
                  <a:rPr lang="de-CH" dirty="0"/>
                  <a:t> </a:t>
                </a:r>
                <a:r>
                  <a:rPr lang="de-CH" dirty="0" err="1"/>
                  <a:t>deviation</a:t>
                </a:r>
                <a:r>
                  <a:rPr lang="de-CH" dirty="0"/>
                  <a:t> and </a:t>
                </a:r>
                <a:r>
                  <a:rPr lang="de-CH" dirty="0" err="1"/>
                  <a:t>mean</a:t>
                </a:r>
                <a:br>
                  <a:rPr lang="de-CH" dirty="0"/>
                </a:br>
                <a:r>
                  <a:rPr lang="de-CH" dirty="0"/>
                  <a:t>1. </a:t>
                </a:r>
                <a:r>
                  <a:rPr lang="de-CH" dirty="0" err="1"/>
                  <a:t>calculate</a:t>
                </a:r>
                <a:r>
                  <a:rPr lang="de-CH" dirty="0"/>
                  <a:t> </a:t>
                </a:r>
                <a:r>
                  <a:rPr lang="de-CH" dirty="0" err="1"/>
                  <a:t>mean</a:t>
                </a:r>
                <a:r>
                  <a:rPr lang="de-CH" dirty="0"/>
                  <a:t> </a:t>
                </a:r>
                <a:r>
                  <a:rPr lang="de-CH" dirty="0">
                    <a:sym typeface="Wingdings" panose="05000000000000000000" pitchFamily="2" charset="2"/>
                  </a:rPr>
                  <a:t> 56 </a:t>
                </a:r>
                <a:br>
                  <a:rPr lang="de-CH" dirty="0">
                    <a:sym typeface="Wingdings" panose="05000000000000000000" pitchFamily="2" charset="2"/>
                  </a:rPr>
                </a:br>
                <a:r>
                  <a:rPr lang="de-CH" dirty="0">
                    <a:sym typeface="Wingdings" panose="05000000000000000000" pitchFamily="2" charset="2"/>
                  </a:rPr>
                  <a:t>2. </a:t>
                </a:r>
                <a:r>
                  <a:rPr lang="de-CH" dirty="0" err="1">
                    <a:sym typeface="Wingdings" panose="05000000000000000000" pitchFamily="2" charset="2"/>
                  </a:rPr>
                  <a:t>calculate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standard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deviation</a:t>
                </a:r>
                <a:r>
                  <a:rPr lang="de-CH" dirty="0">
                    <a:sym typeface="Wingdings" panose="05000000000000000000" pitchFamily="2" charset="2"/>
                  </a:rPr>
                  <a:t>  </a:t>
                </a:r>
                <a14:m>
                  <m:oMath xmlns:m="http://schemas.openxmlformats.org/officeDocument/2006/math">
                    <m:r>
                      <a:rPr lang="de-CH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√{</m:t>
                    </m:r>
                    <m:f>
                      <m:fPr>
                        <m:ctrlPr>
                          <a:rPr lang="de-CH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CH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1</m:t>
                        </m:r>
                      </m:num>
                      <m:den>
                        <m:r>
                          <a:rPr lang="de-CH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  <m:sSup>
                      <m:sSupPr>
                        <m:ctrlPr>
                          <a:rPr lang="de-CH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CH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de-CH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21−56</m:t>
                            </m:r>
                          </m:e>
                        </m:d>
                      </m:e>
                      <m:sup>
                        <m:r>
                          <a:rPr lang="de-CH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de-CH" i="1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p>
                      <m:sSupPr>
                        <m:ctrlPr>
                          <a:rPr lang="de-CH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CH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de-CH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48−56</m:t>
                            </m:r>
                          </m:e>
                        </m:d>
                      </m:e>
                      <m:sup>
                        <m:r>
                          <a:rPr lang="de-CH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de-CH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+</m:t>
                    </m:r>
                    <m:sSup>
                      <m:sSupPr>
                        <m:ctrlPr>
                          <a:rPr lang="de-CH" i="1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de-CH" i="1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</m:ctrlPr>
                          </m:dPr>
                          <m:e>
                            <m:r>
                              <a:rPr lang="de-CH">
                                <a:latin typeface="Cambria Math" panose="02040503050406030204" pitchFamily="18" charset="0"/>
                                <a:sym typeface="Wingdings" panose="05000000000000000000" pitchFamily="2" charset="2"/>
                              </a:rPr>
                              <m:t>99−56</m:t>
                            </m:r>
                          </m:e>
                        </m:d>
                      </m:e>
                      <m:sup>
                        <m:r>
                          <a:rPr lang="de-CH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sup>
                    </m:sSup>
                    <m:r>
                      <a:rPr lang="de-CH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}</m:t>
                    </m:r>
                  </m:oMath>
                </a14:m>
                <a:r>
                  <a:rPr lang="de-CH" dirty="0"/>
                  <a:t> </a:t>
                </a:r>
                <a:br>
                  <a:rPr lang="de-CH" dirty="0"/>
                </a:br>
                <a:r>
                  <a:rPr lang="de-CH" dirty="0"/>
                  <a:t>3. </a:t>
                </a:r>
                <a:r>
                  <a:rPr lang="de-CH" dirty="0" err="1"/>
                  <a:t>standard</a:t>
                </a:r>
                <a:r>
                  <a:rPr lang="de-CH" dirty="0"/>
                  <a:t> </a:t>
                </a:r>
                <a:r>
                  <a:rPr lang="de-CH" dirty="0" err="1"/>
                  <a:t>deviation</a:t>
                </a:r>
                <a:r>
                  <a:rPr lang="de-CH" dirty="0"/>
                  <a:t> 32.34</a:t>
                </a:r>
              </a:p>
              <a:p>
                <a:endParaRPr lang="de-CH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F92CD729-E285-3567-C5AB-045420F7FC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1"/>
              </p:nvPr>
            </p:nvSpPr>
            <p:spPr>
              <a:blipFill>
                <a:blip r:embed="rId2"/>
                <a:stretch>
                  <a:fillRect l="-1323" t="-154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A4E22E9-2755-168E-5D3F-346BAA7F6F4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0FA285ED-1222-5353-77EC-DF79318D9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1513" y="4589348"/>
            <a:ext cx="2943636" cy="819264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699D10E-278B-AC52-19D2-0D1EDAE341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0276" y="2876473"/>
            <a:ext cx="276264" cy="28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801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60AC2AF-C272-EA5A-DD4D-5A37D90D6011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EF1DF5-0ECC-49CA-8174-9E0B95742C2E}" type="datetime4">
              <a:rPr lang="de-CH" smtClean="0"/>
              <a:pPr/>
              <a:t>6. Mai 2026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DD2FD50-2829-A58F-6C15-2BB281D98E3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15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3C9EB70-A7D2-4768-A128-D2AA447A4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Z-Score Normalisierung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D10DE45E-1286-B59A-6854-9F7FA46A0EBA}"/>
                  </a:ext>
                </a:extLst>
              </p:cNvPr>
              <p:cNvSpPr>
                <a:spLocks noGrp="1"/>
              </p:cNvSpPr>
              <p:nvPr>
                <p:ph sz="quarter" idx="21"/>
              </p:nvPr>
            </p:nvSpPr>
            <p:spPr/>
            <p:txBody>
              <a:bodyPr/>
              <a:lstStyle/>
              <a:p>
                <a:r>
                  <a:rPr lang="de-CH" dirty="0">
                    <a:sym typeface="Wingdings" panose="05000000000000000000" pitchFamily="2" charset="2"/>
                  </a:rPr>
                  <a:t>Add </a:t>
                </a:r>
                <a:r>
                  <a:rPr lang="de-CH" dirty="0" err="1">
                    <a:sym typeface="Wingdings" panose="05000000000000000000" pitchFamily="2" charset="2"/>
                  </a:rPr>
                  <a:t>values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into</a:t>
                </a:r>
                <a:r>
                  <a:rPr lang="de-CH" dirty="0">
                    <a:sym typeface="Wingdings" panose="05000000000000000000" pitchFamily="2" charset="2"/>
                  </a:rPr>
                  <a:t> </a:t>
                </a:r>
                <a:r>
                  <a:rPr lang="de-CH" dirty="0" err="1">
                    <a:sym typeface="Wingdings" panose="05000000000000000000" pitchFamily="2" charset="2"/>
                  </a:rPr>
                  <a:t>formula</a:t>
                </a:r>
                <a:r>
                  <a:rPr lang="de-CH" dirty="0">
                    <a:sym typeface="Wingdings" panose="05000000000000000000" pitchFamily="2" charset="2"/>
                  </a:rPr>
                  <a:t> 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CH">
                            <a:latin typeface="Cambria Math" panose="02040503050406030204" pitchFamily="18" charset="0"/>
                          </a:rPr>
                          <m:t>´</m:t>
                        </m:r>
                      </m:e>
                      <m:sub>
                        <m:r>
                          <a:rPr lang="de-CH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de-CH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CH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de-CH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de-CH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CH" smtClean="0">
                            <a:latin typeface="Cambria Math" panose="02040503050406030204" pitchFamily="18" charset="0"/>
                          </a:rPr>
                          <m:t>𝜇</m:t>
                        </m:r>
                      </m:num>
                      <m:den>
                        <m:r>
                          <a:rPr lang="de-CH" smtClean="0">
                            <a:latin typeface="Cambria Math" panose="02040503050406030204" pitchFamily="18" charset="0"/>
                          </a:rPr>
                          <m:t>𝜎</m:t>
                        </m:r>
                      </m:den>
                    </m:f>
                  </m:oMath>
                </a14:m>
                <a:endParaRPr lang="de-CH" dirty="0"/>
              </a:p>
              <a:p>
                <a:r>
                  <a:rPr lang="de-CH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de-CH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de-CH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de-CH">
                            <a:latin typeface="Cambria Math" panose="02040503050406030204" pitchFamily="18" charset="0"/>
                          </a:rPr>
                          <m:t>´</m:t>
                        </m:r>
                      </m:e>
                      <m:sub>
                        <m:r>
                          <a:rPr lang="de-CH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de-CH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de-CH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de-CH" b="0" i="0" smtClean="0"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a:rPr lang="de-CH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56</m:t>
                        </m:r>
                      </m:num>
                      <m:den>
                        <m:r>
                          <a:rPr lang="de-CH" b="0" i="1" smtClean="0">
                            <a:latin typeface="Cambria Math" panose="02040503050406030204" pitchFamily="18" charset="0"/>
                          </a:rPr>
                          <m:t>32.34</m:t>
                        </m:r>
                      </m:den>
                    </m:f>
                    <m:r>
                      <a:rPr lang="de-CH" b="0" i="1" smtClean="0">
                        <a:latin typeface="Cambria Math" panose="02040503050406030204" pitchFamily="18" charset="0"/>
                      </a:rPr>
                      <m:t>=−0.247</m:t>
                    </m:r>
                  </m:oMath>
                </a14:m>
                <a:endParaRPr lang="de-CH" dirty="0"/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D10DE45E-1286-B59A-6854-9F7FA46A0E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1"/>
              </p:nvPr>
            </p:nvSpPr>
            <p:spPr>
              <a:blipFill>
                <a:blip r:embed="rId2"/>
                <a:stretch>
                  <a:fillRect l="-1323" t="-899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D8E5E88-F3D1-75EC-936A-7CBEA6416B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663679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989575-7FD6-2DE8-9A2D-FE74531137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EF1DF5-0ECC-49CA-8174-9E0B95742C2E}" type="datetime4">
              <a:rPr lang="de-CH" smtClean="0"/>
              <a:pPr/>
              <a:t>6. Mai 2026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3C6586-C2F6-C438-C7B3-CAF6EB06978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16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8F707A0-4337-7870-61EC-242067182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Discretization</a:t>
            </a:r>
            <a:endParaRPr lang="de-CH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022C77EC-AF60-0555-DD6D-AFB61F5F92D1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3251563" y="1447801"/>
            <a:ext cx="6163535" cy="466790"/>
          </a:xfr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FE3A1EC-EA40-AD3F-17EB-CB1A768D74F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59DF395-5804-4D15-A6CD-E7DB24321D09}"/>
              </a:ext>
            </a:extLst>
          </p:cNvPr>
          <p:cNvSpPr txBox="1"/>
          <p:nvPr/>
        </p:nvSpPr>
        <p:spPr>
          <a:xfrm>
            <a:off x="806450" y="2248678"/>
            <a:ext cx="11053763" cy="391717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Do an </a:t>
            </a:r>
            <a:r>
              <a:rPr lang="en-US" sz="18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equidepth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binning on the attribute Age. When done the attribute should hold just 3 distinct values. Decide on meaningful labels for the created bins. Always specify the bins' lower and upper boundaries.</a:t>
            </a: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sz="1800" i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rgbClr val="000000"/>
                </a:solidFill>
                <a:latin typeface="Arial" panose="020B0604020202020204" pitchFamily="34" charset="0"/>
              </a:rPr>
              <a:t>How should we start?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 </a:t>
            </a:r>
            <a:endParaRPr lang="de-CH" sz="2000" i="1" dirty="0" err="1"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33250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989575-7FD6-2DE8-9A2D-FE74531137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EF1DF5-0ECC-49CA-8174-9E0B95742C2E}" type="datetime4">
              <a:rPr lang="de-CH" smtClean="0"/>
              <a:pPr/>
              <a:t>6. Mai 2026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3C6586-C2F6-C438-C7B3-CAF6EB06978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17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8F707A0-4337-7870-61EC-242067182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Discretization</a:t>
            </a:r>
            <a:endParaRPr lang="de-CH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022C77EC-AF60-0555-DD6D-AFB61F5F92D1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3251563" y="1447801"/>
            <a:ext cx="6163535" cy="466790"/>
          </a:xfr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FE3A1EC-EA40-AD3F-17EB-CB1A768D74F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59DF395-5804-4D15-A6CD-E7DB24321D09}"/>
              </a:ext>
            </a:extLst>
          </p:cNvPr>
          <p:cNvSpPr txBox="1"/>
          <p:nvPr/>
        </p:nvSpPr>
        <p:spPr>
          <a:xfrm>
            <a:off x="806449" y="2248678"/>
            <a:ext cx="11053763" cy="391717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>
                <a:ea typeface="Roboto Medium" panose="02000000000000000000" pitchFamily="2" charset="0"/>
              </a:rPr>
              <a:t>Making 3 Bins </a:t>
            </a:r>
            <a:r>
              <a:rPr lang="de-CH" sz="2000" dirty="0" err="1">
                <a:ea typeface="Roboto Medium" panose="02000000000000000000" pitchFamily="2" charset="0"/>
              </a:rPr>
              <a:t>with</a:t>
            </a:r>
            <a:r>
              <a:rPr lang="de-CH" sz="2000" dirty="0">
                <a:ea typeface="Roboto Medium" panose="02000000000000000000" pitchFamily="2" charset="0"/>
              </a:rPr>
              <a:t> same </a:t>
            </a:r>
            <a:r>
              <a:rPr lang="de-CH" sz="2000" dirty="0" err="1">
                <a:ea typeface="Roboto Medium" panose="02000000000000000000" pitchFamily="2" charset="0"/>
              </a:rPr>
              <a:t>depth</a:t>
            </a:r>
            <a:r>
              <a:rPr lang="de-CH" sz="2000" dirty="0">
                <a:ea typeface="Roboto Medium" panose="02000000000000000000" pitchFamily="2" charset="0"/>
              </a:rPr>
              <a:t> 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 {7,7,8,9},{11,12,13,22}{22,36,38,64}</a:t>
            </a: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Proposing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Label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for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each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bin  Children,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Youths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,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Adults</a:t>
            </a:r>
            <a:endParaRPr lang="de-CH" sz="2000" dirty="0">
              <a:ea typeface="Roboto Medium" panose="02000000000000000000" pitchFamily="2" charset="0"/>
              <a:sym typeface="Wingdings" panose="05000000000000000000" pitchFamily="2" charset="2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What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do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we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do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if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new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data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comes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in?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Example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Age 10 </a:t>
            </a:r>
            <a:r>
              <a:rPr lang="de-CH" sz="2000" dirty="0" err="1">
                <a:ea typeface="Roboto Medium" panose="02000000000000000000" pitchFamily="2" charset="0"/>
                <a:sym typeface="Wingdings" panose="05000000000000000000" pitchFamily="2" charset="2"/>
              </a:rPr>
              <a:t>or</a:t>
            </a:r>
            <a:r>
              <a:rPr lang="de-CH" sz="2000" dirty="0">
                <a:ea typeface="Roboto Medium" panose="02000000000000000000" pitchFamily="2" charset="0"/>
                <a:sym typeface="Wingdings" panose="05000000000000000000" pitchFamily="2" charset="2"/>
              </a:rPr>
              <a:t> 22 ?</a:t>
            </a: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>
              <a:ea typeface="Roboto Medium" panose="02000000000000000000" pitchFamily="2" charset="0"/>
              <a:sym typeface="Wingdings" panose="05000000000000000000" pitchFamily="2" charset="2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de-CH" sz="2000" dirty="0">
              <a:ea typeface="Roboto Medium" panose="02000000000000000000" pitchFamily="2" charset="0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6741234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666BDE1-8A44-A64D-C89E-30DD669D431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EF1DF5-0ECC-49CA-8174-9E0B95742C2E}" type="datetime4">
              <a:rPr lang="de-CH" smtClean="0"/>
              <a:pPr/>
              <a:t>6. Mai 2026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E5FDC3-59B9-EE56-3A13-6F8CD5A7434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18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6EDED45-FF73-E88F-45C3-0DE132E9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Discretization</a:t>
            </a:r>
            <a:endParaRPr lang="de-CH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440F7F9-08F7-DFFE-EBEC-4D1C6DC0A69A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 err="1"/>
              <a:t>Make</a:t>
            </a:r>
            <a:r>
              <a:rPr lang="de-CH" dirty="0"/>
              <a:t> </a:t>
            </a:r>
            <a:r>
              <a:rPr lang="de-CH" dirty="0" err="1"/>
              <a:t>sure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there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gaps</a:t>
            </a:r>
            <a:r>
              <a:rPr lang="de-CH" dirty="0"/>
              <a:t> </a:t>
            </a:r>
            <a:r>
              <a:rPr lang="de-CH" dirty="0" err="1"/>
              <a:t>between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bins</a:t>
            </a:r>
            <a:endParaRPr lang="de-CH" dirty="0"/>
          </a:p>
          <a:p>
            <a:r>
              <a:rPr lang="de-CH" dirty="0" err="1"/>
              <a:t>Make</a:t>
            </a:r>
            <a:r>
              <a:rPr lang="de-CH" dirty="0"/>
              <a:t> </a:t>
            </a:r>
            <a:r>
              <a:rPr lang="de-CH" dirty="0" err="1"/>
              <a:t>sure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there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overlaps</a:t>
            </a:r>
            <a:r>
              <a:rPr lang="de-CH" dirty="0"/>
              <a:t> </a:t>
            </a:r>
            <a:r>
              <a:rPr lang="de-CH" dirty="0" err="1"/>
              <a:t>between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bins</a:t>
            </a:r>
            <a:r>
              <a:rPr lang="de-CH" dirty="0"/>
              <a:t>. </a:t>
            </a:r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pPr marL="0" indent="0">
              <a:buNone/>
            </a:pPr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5BB3C37-72EE-84FB-976F-C62F6F6C439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562C2C44-CEE5-2F7E-5A23-38A069A9F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486" y="5209824"/>
            <a:ext cx="1603126" cy="94531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55 w 21600"/>
              <a:gd name="T13" fmla="*/ 3354 h 21600"/>
              <a:gd name="T14" fmla="*/ 18245 w 21600"/>
              <a:gd name="T15" fmla="*/ 18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04" y="21600"/>
                </a:lnTo>
                <a:lnTo>
                  <a:pt x="18496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E6E6E6"/>
              </a:gs>
              <a:gs pos="14999">
                <a:srgbClr val="7D8496"/>
              </a:gs>
              <a:gs pos="53000">
                <a:srgbClr val="E6E6E6"/>
              </a:gs>
              <a:gs pos="67999">
                <a:srgbClr val="7D8496"/>
              </a:gs>
              <a:gs pos="92999">
                <a:srgbClr val="E6E6E6"/>
              </a:gs>
              <a:gs pos="100000">
                <a:srgbClr val="FFFFFF"/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endParaRPr lang="de-CH"/>
          </a:p>
        </p:txBody>
      </p:sp>
      <p:sp>
        <p:nvSpPr>
          <p:cNvPr id="9" name="AutoShape 13">
            <a:extLst>
              <a:ext uri="{FF2B5EF4-FFF2-40B4-BE49-F238E27FC236}">
                <a16:creationId xmlns:a16="http://schemas.microsoft.com/office/drawing/2014/main" id="{48E7E693-01FF-408D-82FE-F7980FDB1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612" y="5220540"/>
            <a:ext cx="1603126" cy="94531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55 w 21600"/>
              <a:gd name="T13" fmla="*/ 3354 h 21600"/>
              <a:gd name="T14" fmla="*/ 18245 w 21600"/>
              <a:gd name="T15" fmla="*/ 18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04" y="21600"/>
                </a:lnTo>
                <a:lnTo>
                  <a:pt x="18496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E6E6E6"/>
              </a:gs>
              <a:gs pos="14999">
                <a:srgbClr val="7D8496"/>
              </a:gs>
              <a:gs pos="53000">
                <a:srgbClr val="E6E6E6"/>
              </a:gs>
              <a:gs pos="67999">
                <a:srgbClr val="7D8496"/>
              </a:gs>
              <a:gs pos="92999">
                <a:srgbClr val="E6E6E6"/>
              </a:gs>
              <a:gs pos="100000">
                <a:srgbClr val="FFFFFF"/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endParaRPr lang="de-CH"/>
          </a:p>
        </p:txBody>
      </p:sp>
      <p:sp>
        <p:nvSpPr>
          <p:cNvPr id="10" name="AutoShape 13">
            <a:extLst>
              <a:ext uri="{FF2B5EF4-FFF2-40B4-BE49-F238E27FC236}">
                <a16:creationId xmlns:a16="http://schemas.microsoft.com/office/drawing/2014/main" id="{B293625F-D5D0-1886-14E3-620B75FC3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6751" y="5220540"/>
            <a:ext cx="1603126" cy="94531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55 w 21600"/>
              <a:gd name="T13" fmla="*/ 3354 h 21600"/>
              <a:gd name="T14" fmla="*/ 18245 w 21600"/>
              <a:gd name="T15" fmla="*/ 18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04" y="21600"/>
                </a:lnTo>
                <a:lnTo>
                  <a:pt x="18496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E6E6E6"/>
              </a:gs>
              <a:gs pos="14999">
                <a:srgbClr val="7D8496"/>
              </a:gs>
              <a:gs pos="53000">
                <a:srgbClr val="E6E6E6"/>
              </a:gs>
              <a:gs pos="67999">
                <a:srgbClr val="7D8496"/>
              </a:gs>
              <a:gs pos="92999">
                <a:srgbClr val="E6E6E6"/>
              </a:gs>
              <a:gs pos="100000">
                <a:srgbClr val="FFFFFF"/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endParaRPr lang="de-CH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883B21E-7CC7-F585-152B-EC61E676E175}"/>
              </a:ext>
            </a:extLst>
          </p:cNvPr>
          <p:cNvSpPr txBox="1"/>
          <p:nvPr/>
        </p:nvSpPr>
        <p:spPr>
          <a:xfrm>
            <a:off x="4038849" y="5488963"/>
            <a:ext cx="914400" cy="45101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CH" sz="2000" dirty="0">
                <a:ea typeface="Roboto Medium" panose="02000000000000000000" pitchFamily="2" charset="0"/>
              </a:rPr>
              <a:t>0-10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D788064-8D99-4DD8-D190-5B1029F3B783}"/>
              </a:ext>
            </a:extLst>
          </p:cNvPr>
          <p:cNvSpPr txBox="1"/>
          <p:nvPr/>
        </p:nvSpPr>
        <p:spPr>
          <a:xfrm>
            <a:off x="5641975" y="5489680"/>
            <a:ext cx="914400" cy="45101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CH" sz="2000" dirty="0">
                <a:ea typeface="Roboto Medium" panose="02000000000000000000" pitchFamily="2" charset="0"/>
              </a:rPr>
              <a:t>11-21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75A44C4-C1C1-025E-4F77-70AAE7426F6B}"/>
              </a:ext>
            </a:extLst>
          </p:cNvPr>
          <p:cNvSpPr txBox="1"/>
          <p:nvPr/>
        </p:nvSpPr>
        <p:spPr>
          <a:xfrm>
            <a:off x="7246671" y="5495353"/>
            <a:ext cx="914400" cy="45101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CH" sz="2000" dirty="0">
                <a:ea typeface="Roboto Medium" panose="02000000000000000000" pitchFamily="2" charset="0"/>
              </a:rPr>
              <a:t>&gt;21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280875A-A1B2-F02C-34B1-E0E698CB3B9D}"/>
              </a:ext>
            </a:extLst>
          </p:cNvPr>
          <p:cNvSpPr txBox="1"/>
          <p:nvPr/>
        </p:nvSpPr>
        <p:spPr>
          <a:xfrm>
            <a:off x="4012101" y="4934818"/>
            <a:ext cx="1083657" cy="45101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CH" sz="1700" dirty="0">
                <a:ea typeface="Roboto Medium" panose="02000000000000000000" pitchFamily="2" charset="0"/>
              </a:rPr>
              <a:t>Children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34DA8AC-5401-317E-3399-03B0733BABD4}"/>
              </a:ext>
            </a:extLst>
          </p:cNvPr>
          <p:cNvSpPr txBox="1"/>
          <p:nvPr/>
        </p:nvSpPr>
        <p:spPr>
          <a:xfrm>
            <a:off x="5701320" y="4934818"/>
            <a:ext cx="914400" cy="45101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 fontScale="85000" lnSpcReduction="10000"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CH" sz="2000" dirty="0" err="1">
                <a:ea typeface="Roboto Medium" panose="02000000000000000000" pitchFamily="2" charset="0"/>
              </a:rPr>
              <a:t>Youths</a:t>
            </a:r>
            <a:endParaRPr lang="de-CH" sz="2000" dirty="0">
              <a:ea typeface="Roboto Medium" panose="02000000000000000000" pitchFamily="2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F11A1A2-D3F3-FF5E-13C1-F44D43F8FFA3}"/>
              </a:ext>
            </a:extLst>
          </p:cNvPr>
          <p:cNvSpPr txBox="1"/>
          <p:nvPr/>
        </p:nvSpPr>
        <p:spPr>
          <a:xfrm>
            <a:off x="7244339" y="4936852"/>
            <a:ext cx="914400" cy="45101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CH" sz="1700" dirty="0" err="1">
                <a:ea typeface="Roboto Medium" panose="02000000000000000000" pitchFamily="2" charset="0"/>
              </a:rPr>
              <a:t>Adults</a:t>
            </a:r>
            <a:endParaRPr lang="de-CH" sz="1700" dirty="0"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1032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989575-7FD6-2DE8-9A2D-FE74531137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EF1DF5-0ECC-49CA-8174-9E0B95742C2E}" type="datetime4">
              <a:rPr lang="de-CH" smtClean="0"/>
              <a:pPr/>
              <a:t>6. Mai 2026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3C6586-C2F6-C438-C7B3-CAF6EB06978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19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8F707A0-4337-7870-61EC-242067182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Discretization</a:t>
            </a:r>
            <a:endParaRPr lang="de-CH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022C77EC-AF60-0555-DD6D-AFB61F5F92D1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3251563" y="1447801"/>
            <a:ext cx="6163535" cy="466790"/>
          </a:xfr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FE3A1EC-EA40-AD3F-17EB-CB1A768D74F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59DF395-5804-4D15-A6CD-E7DB24321D09}"/>
              </a:ext>
            </a:extLst>
          </p:cNvPr>
          <p:cNvSpPr txBox="1"/>
          <p:nvPr/>
        </p:nvSpPr>
        <p:spPr>
          <a:xfrm>
            <a:off x="806450" y="2248678"/>
            <a:ext cx="11053763" cy="391717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do an </a:t>
            </a:r>
            <a:r>
              <a:rPr lang="en-US" sz="1800" b="0" i="1" dirty="0" err="1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equiwidth</a:t>
            </a:r>
            <a:r>
              <a:rPr lang="en-US" sz="1800" b="0" i="1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 binning on the attribute Age – again with 3 bins. What would be meaningful labels for the bins this time? Again specify the bins' lower and upper boundaries.</a:t>
            </a: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sz="1800" i="1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r>
              <a:rPr lang="en-US" sz="1800" b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How do we start?</a:t>
            </a:r>
          </a:p>
          <a:p>
            <a:pPr marL="252000" indent="-252000" algn="l">
              <a:spcAft>
                <a:spcPts val="600"/>
              </a:spcAft>
              <a:buClr>
                <a:schemeClr val="tx2"/>
              </a:buClr>
              <a:buFont typeface="Arial" panose="020B0604020202020204" pitchFamily="34" charset="0"/>
              <a:buChar char="•"/>
            </a:pPr>
            <a:endParaRPr lang="en-US" sz="1800" i="1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37116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08989575-7FD6-2DE8-9A2D-FE74531137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EF1DF5-0ECC-49CA-8174-9E0B95742C2E}" type="datetime4">
              <a:rPr lang="de-CH" smtClean="0"/>
              <a:pPr/>
              <a:t>6. Mai 2026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A3C6586-C2F6-C438-C7B3-CAF6EB06978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20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78F707A0-4337-7870-61EC-2420671828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Discretization</a:t>
            </a:r>
            <a:endParaRPr lang="de-CH" dirty="0"/>
          </a:p>
        </p:txBody>
      </p:sp>
      <p:pic>
        <p:nvPicPr>
          <p:cNvPr id="9" name="Inhaltsplatzhalter 8">
            <a:extLst>
              <a:ext uri="{FF2B5EF4-FFF2-40B4-BE49-F238E27FC236}">
                <a16:creationId xmlns:a16="http://schemas.microsoft.com/office/drawing/2014/main" id="{022C77EC-AF60-0555-DD6D-AFB61F5F92D1}"/>
              </a:ext>
            </a:extLst>
          </p:cNvPr>
          <p:cNvPicPr>
            <a:picLocks noGrp="1" noChangeAspect="1"/>
          </p:cNvPicPr>
          <p:nvPr>
            <p:ph sz="quarter" idx="21"/>
          </p:nvPr>
        </p:nvPicPr>
        <p:blipFill>
          <a:blip r:embed="rId2"/>
          <a:stretch>
            <a:fillRect/>
          </a:stretch>
        </p:blipFill>
        <p:spPr>
          <a:xfrm>
            <a:off x="3251563" y="1447801"/>
            <a:ext cx="6163535" cy="466790"/>
          </a:xfrm>
        </p:spPr>
      </p:pic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FE3A1EC-EA40-AD3F-17EB-CB1A768D74F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59DF395-5804-4D15-A6CD-E7DB24321D09}"/>
                  </a:ext>
                </a:extLst>
              </p:cNvPr>
              <p:cNvSpPr txBox="1"/>
              <p:nvPr/>
            </p:nvSpPr>
            <p:spPr>
              <a:xfrm>
                <a:off x="806450" y="2248678"/>
                <a:ext cx="11053763" cy="3917172"/>
              </a:xfrm>
              <a:prstGeom prst="rect">
                <a:avLst/>
              </a:prstGeom>
              <a:noFill/>
            </p:spPr>
            <p:txBody>
              <a:bodyPr wrap="square" lIns="108000" tIns="36000" rIns="108000" bIns="108000" rtlCol="0">
                <a:normAutofit/>
              </a:bodyPr>
              <a:lstStyle/>
              <a:p>
                <a:pPr marL="252000" indent="-252000" algn="l"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000000"/>
                    </a:solidFill>
                    <a:latin typeface="Arial" panose="020B0604020202020204" pitchFamily="34" charset="0"/>
                  </a:rPr>
                  <a:t>Calculate the difference between the min value and max value </a:t>
                </a:r>
                <a:r>
                  <a:rPr lang="en-US" sz="1800" dirty="0">
                    <a:solidFill>
                      <a:srgbClr val="000000"/>
                    </a:solidFill>
                    <a:latin typeface="Arial" panose="020B0604020202020204" pitchFamily="34" charset="0"/>
                    <a:sym typeface="Wingdings" panose="05000000000000000000" pitchFamily="2" charset="2"/>
                  </a:rPr>
                  <a:t> 64 – 7 = 57</a:t>
                </a:r>
              </a:p>
              <a:p>
                <a:pPr marL="252000" indent="-252000" algn="l"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000000"/>
                    </a:solidFill>
                    <a:latin typeface="Arial" panose="020B0604020202020204" pitchFamily="34" charset="0"/>
                    <a:sym typeface="Wingdings" panose="05000000000000000000" pitchFamily="2" charset="2"/>
                  </a:rPr>
                  <a:t>Every bin has an age range of </a:t>
                </a:r>
                <a14:m>
                  <m:oMath xmlns:m="http://schemas.openxmlformats.org/officeDocument/2006/math">
                    <m:r>
                      <a:rPr lang="de-CH" sz="1800" b="0" i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  </m:t>
                    </m:r>
                    <m:f>
                      <m:fPr>
                        <m:ctrlPr>
                          <a:rPr lang="de-CH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CH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57</m:t>
                        </m:r>
                      </m:num>
                      <m:den>
                        <m:r>
                          <a:rPr lang="de-CH" sz="18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3</m:t>
                        </m:r>
                      </m:den>
                    </m:f>
                    <m:r>
                      <a:rPr lang="de-CH" sz="18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=19</m:t>
                    </m:r>
                  </m:oMath>
                </a14:m>
                <a:endParaRPr lang="en-US" sz="1800" dirty="0">
                  <a:solidFill>
                    <a:srgbClr val="000000"/>
                  </a:solidFill>
                  <a:latin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252000" indent="-252000" algn="l"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000000"/>
                    </a:solidFill>
                    <a:latin typeface="Arial" panose="020B0604020202020204" pitchFamily="34" charset="0"/>
                    <a:sym typeface="Wingdings" panose="05000000000000000000" pitchFamily="2" charset="2"/>
                  </a:rPr>
                  <a:t>Calculate the new bins  7 + 19 = 26  Range of [7,26)</a:t>
                </a:r>
              </a:p>
              <a:p>
                <a:pPr marL="252000" indent="-252000" algn="l"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000000"/>
                    </a:solidFill>
                    <a:latin typeface="Arial" panose="020B0604020202020204" pitchFamily="34" charset="0"/>
                    <a:sym typeface="Wingdings" panose="05000000000000000000" pitchFamily="2" charset="2"/>
                  </a:rPr>
                  <a:t>Solution: [7,26),[26,45),[45,64)</a:t>
                </a:r>
              </a:p>
              <a:p>
                <a:pPr marL="252000" indent="-252000" algn="l"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rgbClr val="000000"/>
                  </a:solidFill>
                  <a:latin typeface="Arial" panose="020B0604020202020204" pitchFamily="34" charset="0"/>
                  <a:sym typeface="Wingdings" panose="05000000000000000000" pitchFamily="2" charset="2"/>
                </a:endParaRPr>
              </a:p>
              <a:p>
                <a:pPr marL="252000" indent="-252000" algn="l"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r>
                  <a:rPr lang="en-US" sz="1800" dirty="0">
                    <a:solidFill>
                      <a:srgbClr val="000000"/>
                    </a:solidFill>
                    <a:latin typeface="Arial" panose="020B0604020202020204" pitchFamily="34" charset="0"/>
                    <a:sym typeface="Wingdings" panose="05000000000000000000" pitchFamily="2" charset="2"/>
                  </a:rPr>
                  <a:t>Are we done?</a:t>
                </a:r>
              </a:p>
              <a:p>
                <a:pPr marL="252000" indent="-252000" algn="l">
                  <a:spcAft>
                    <a:spcPts val="600"/>
                  </a:spcAft>
                  <a:buClr>
                    <a:schemeClr val="tx2"/>
                  </a:buClr>
                  <a:buFont typeface="Arial" panose="020B0604020202020204" pitchFamily="34" charset="0"/>
                  <a:buChar char="•"/>
                </a:pPr>
                <a:endParaRPr lang="en-US" sz="1800" dirty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259DF395-5804-4D15-A6CD-E7DB24321D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50" y="2248678"/>
                <a:ext cx="11053763" cy="3917172"/>
              </a:xfrm>
              <a:prstGeom prst="rect">
                <a:avLst/>
              </a:prstGeom>
              <a:blipFill>
                <a:blip r:embed="rId3"/>
                <a:stretch>
                  <a:fillRect l="-165" t="-109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7529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666BDE1-8A44-A64D-C89E-30DD669D431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EF1DF5-0ECC-49CA-8174-9E0B95742C2E}" type="datetime4">
              <a:rPr lang="de-CH" smtClean="0"/>
              <a:pPr/>
              <a:t>6. Mai 2026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0E5FDC3-59B9-EE56-3A13-6F8CD5A7434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21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6EDED45-FF73-E88F-45C3-0DE132E9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Discretization</a:t>
            </a:r>
            <a:endParaRPr lang="de-CH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440F7F9-08F7-DFFE-EBEC-4D1C6DC0A69A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 err="1"/>
              <a:t>Make</a:t>
            </a:r>
            <a:r>
              <a:rPr lang="de-CH" dirty="0"/>
              <a:t> </a:t>
            </a:r>
            <a:r>
              <a:rPr lang="de-CH" dirty="0" err="1"/>
              <a:t>sure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there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gaps</a:t>
            </a:r>
            <a:r>
              <a:rPr lang="de-CH" dirty="0"/>
              <a:t> </a:t>
            </a:r>
            <a:r>
              <a:rPr lang="de-CH" dirty="0" err="1"/>
              <a:t>between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bins</a:t>
            </a:r>
            <a:endParaRPr lang="de-CH" dirty="0"/>
          </a:p>
          <a:p>
            <a:r>
              <a:rPr lang="de-CH" dirty="0" err="1"/>
              <a:t>Make</a:t>
            </a:r>
            <a:r>
              <a:rPr lang="de-CH" dirty="0"/>
              <a:t> </a:t>
            </a:r>
            <a:r>
              <a:rPr lang="de-CH" dirty="0" err="1"/>
              <a:t>sure</a:t>
            </a:r>
            <a:r>
              <a:rPr lang="de-CH" dirty="0"/>
              <a:t> </a:t>
            </a:r>
            <a:r>
              <a:rPr lang="de-CH" dirty="0" err="1"/>
              <a:t>that</a:t>
            </a:r>
            <a:r>
              <a:rPr lang="de-CH" dirty="0"/>
              <a:t> </a:t>
            </a:r>
            <a:r>
              <a:rPr lang="de-CH" dirty="0" err="1"/>
              <a:t>there</a:t>
            </a:r>
            <a:r>
              <a:rPr lang="de-CH" dirty="0"/>
              <a:t> </a:t>
            </a:r>
            <a:r>
              <a:rPr lang="de-CH" dirty="0" err="1"/>
              <a:t>are</a:t>
            </a:r>
            <a:r>
              <a:rPr lang="de-CH" dirty="0"/>
              <a:t> </a:t>
            </a:r>
            <a:r>
              <a:rPr lang="de-CH" dirty="0" err="1"/>
              <a:t>no</a:t>
            </a:r>
            <a:r>
              <a:rPr lang="de-CH" dirty="0"/>
              <a:t> </a:t>
            </a:r>
            <a:r>
              <a:rPr lang="de-CH" dirty="0" err="1"/>
              <a:t>overlaps</a:t>
            </a:r>
            <a:r>
              <a:rPr lang="de-CH" dirty="0"/>
              <a:t> </a:t>
            </a:r>
            <a:r>
              <a:rPr lang="de-CH" dirty="0" err="1"/>
              <a:t>between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bins</a:t>
            </a:r>
            <a:r>
              <a:rPr lang="de-CH" dirty="0"/>
              <a:t>. </a:t>
            </a:r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endParaRPr lang="de-CH" dirty="0"/>
          </a:p>
          <a:p>
            <a:pPr marL="0" indent="0">
              <a:buNone/>
            </a:pPr>
            <a:endParaRPr lang="de-CH" dirty="0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5BB3C37-72EE-84FB-976F-C62F6F6C439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  <p:sp>
        <p:nvSpPr>
          <p:cNvPr id="8" name="AutoShape 13">
            <a:extLst>
              <a:ext uri="{FF2B5EF4-FFF2-40B4-BE49-F238E27FC236}">
                <a16:creationId xmlns:a16="http://schemas.microsoft.com/office/drawing/2014/main" id="{562C2C44-CEE5-2F7E-5A23-38A069A9F4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94486" y="5209824"/>
            <a:ext cx="1603126" cy="94531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55 w 21600"/>
              <a:gd name="T13" fmla="*/ 3354 h 21600"/>
              <a:gd name="T14" fmla="*/ 18245 w 21600"/>
              <a:gd name="T15" fmla="*/ 18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04" y="21600"/>
                </a:lnTo>
                <a:lnTo>
                  <a:pt x="18496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E6E6E6"/>
              </a:gs>
              <a:gs pos="14999">
                <a:srgbClr val="7D8496"/>
              </a:gs>
              <a:gs pos="53000">
                <a:srgbClr val="E6E6E6"/>
              </a:gs>
              <a:gs pos="67999">
                <a:srgbClr val="7D8496"/>
              </a:gs>
              <a:gs pos="92999">
                <a:srgbClr val="E6E6E6"/>
              </a:gs>
              <a:gs pos="100000">
                <a:srgbClr val="FFFFFF"/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endParaRPr lang="de-CH"/>
          </a:p>
        </p:txBody>
      </p:sp>
      <p:sp>
        <p:nvSpPr>
          <p:cNvPr id="9" name="AutoShape 13">
            <a:extLst>
              <a:ext uri="{FF2B5EF4-FFF2-40B4-BE49-F238E27FC236}">
                <a16:creationId xmlns:a16="http://schemas.microsoft.com/office/drawing/2014/main" id="{48E7E693-01FF-408D-82FE-F7980FDB14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612" y="5220540"/>
            <a:ext cx="1603126" cy="94531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55 w 21600"/>
              <a:gd name="T13" fmla="*/ 3354 h 21600"/>
              <a:gd name="T14" fmla="*/ 18245 w 21600"/>
              <a:gd name="T15" fmla="*/ 18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04" y="21600"/>
                </a:lnTo>
                <a:lnTo>
                  <a:pt x="18496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E6E6E6"/>
              </a:gs>
              <a:gs pos="14999">
                <a:srgbClr val="7D8496"/>
              </a:gs>
              <a:gs pos="53000">
                <a:srgbClr val="E6E6E6"/>
              </a:gs>
              <a:gs pos="67999">
                <a:srgbClr val="7D8496"/>
              </a:gs>
              <a:gs pos="92999">
                <a:srgbClr val="E6E6E6"/>
              </a:gs>
              <a:gs pos="100000">
                <a:srgbClr val="FFFFFF"/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endParaRPr lang="de-CH"/>
          </a:p>
        </p:txBody>
      </p:sp>
      <p:sp>
        <p:nvSpPr>
          <p:cNvPr id="10" name="AutoShape 13">
            <a:extLst>
              <a:ext uri="{FF2B5EF4-FFF2-40B4-BE49-F238E27FC236}">
                <a16:creationId xmlns:a16="http://schemas.microsoft.com/office/drawing/2014/main" id="{B293625F-D5D0-1886-14E3-620B75FC3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16751" y="5220540"/>
            <a:ext cx="1603126" cy="945310"/>
          </a:xfrm>
          <a:custGeom>
            <a:avLst/>
            <a:gdLst>
              <a:gd name="T0" fmla="*/ 0 w 21600"/>
              <a:gd name="T1" fmla="*/ 0 h 21600"/>
              <a:gd name="T2" fmla="*/ 0 w 21600"/>
              <a:gd name="T3" fmla="*/ 0 h 21600"/>
              <a:gd name="T4" fmla="*/ 0 w 21600"/>
              <a:gd name="T5" fmla="*/ 0 h 21600"/>
              <a:gd name="T6" fmla="*/ 0 w 21600"/>
              <a:gd name="T7" fmla="*/ 0 h 21600"/>
              <a:gd name="T8" fmla="*/ 0 60000 65536"/>
              <a:gd name="T9" fmla="*/ 0 60000 65536"/>
              <a:gd name="T10" fmla="*/ 0 60000 65536"/>
              <a:gd name="T11" fmla="*/ 0 60000 65536"/>
              <a:gd name="T12" fmla="*/ 3355 w 21600"/>
              <a:gd name="T13" fmla="*/ 3354 h 21600"/>
              <a:gd name="T14" fmla="*/ 18245 w 21600"/>
              <a:gd name="T15" fmla="*/ 18246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0" y="0"/>
                </a:moveTo>
                <a:lnTo>
                  <a:pt x="3104" y="21600"/>
                </a:lnTo>
                <a:lnTo>
                  <a:pt x="18496" y="21600"/>
                </a:lnTo>
                <a:lnTo>
                  <a:pt x="21600" y="0"/>
                </a:lnTo>
                <a:close/>
              </a:path>
            </a:pathLst>
          </a:custGeom>
          <a:gradFill rotWithShape="1">
            <a:gsLst>
              <a:gs pos="0">
                <a:srgbClr val="E6E6E6"/>
              </a:gs>
              <a:gs pos="14999">
                <a:srgbClr val="7D8496"/>
              </a:gs>
              <a:gs pos="53000">
                <a:srgbClr val="E6E6E6"/>
              </a:gs>
              <a:gs pos="67999">
                <a:srgbClr val="7D8496"/>
              </a:gs>
              <a:gs pos="92999">
                <a:srgbClr val="E6E6E6"/>
              </a:gs>
              <a:gs pos="100000">
                <a:srgbClr val="FFFFFF"/>
              </a:gs>
            </a:gsLst>
            <a:lin ang="0" scaled="1"/>
          </a:gradFill>
          <a:ln w="9525" algn="ctr">
            <a:solidFill>
              <a:schemeClr val="tx1"/>
            </a:solidFill>
            <a:miter lim="800000"/>
            <a:headEnd/>
            <a:tailEnd/>
          </a:ln>
        </p:spPr>
        <p:txBody>
          <a:bodyPr wrap="none" lIns="36000" rIns="36000" anchor="ctr"/>
          <a:lstStyle/>
          <a:p>
            <a:endParaRPr lang="de-CH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A883B21E-7CC7-F585-152B-EC61E676E175}"/>
              </a:ext>
            </a:extLst>
          </p:cNvPr>
          <p:cNvSpPr txBox="1"/>
          <p:nvPr/>
        </p:nvSpPr>
        <p:spPr>
          <a:xfrm>
            <a:off x="4038849" y="5488963"/>
            <a:ext cx="914400" cy="45101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CH" sz="2000" dirty="0">
                <a:ea typeface="Roboto Medium" panose="02000000000000000000" pitchFamily="2" charset="0"/>
              </a:rPr>
              <a:t>0-25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D788064-8D99-4DD8-D190-5B1029F3B783}"/>
              </a:ext>
            </a:extLst>
          </p:cNvPr>
          <p:cNvSpPr txBox="1"/>
          <p:nvPr/>
        </p:nvSpPr>
        <p:spPr>
          <a:xfrm>
            <a:off x="5641975" y="5489680"/>
            <a:ext cx="914400" cy="45101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CH" sz="2000" dirty="0">
                <a:ea typeface="Roboto Medium" panose="02000000000000000000" pitchFamily="2" charset="0"/>
              </a:rPr>
              <a:t>26-45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75A44C4-C1C1-025E-4F77-70AAE7426F6B}"/>
              </a:ext>
            </a:extLst>
          </p:cNvPr>
          <p:cNvSpPr txBox="1"/>
          <p:nvPr/>
        </p:nvSpPr>
        <p:spPr>
          <a:xfrm>
            <a:off x="7246671" y="5495353"/>
            <a:ext cx="914400" cy="45101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CH" sz="2000" dirty="0">
                <a:ea typeface="Roboto Medium" panose="02000000000000000000" pitchFamily="2" charset="0"/>
              </a:rPr>
              <a:t>&gt;45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4280875A-A1B2-F02C-34B1-E0E698CB3B9D}"/>
              </a:ext>
            </a:extLst>
          </p:cNvPr>
          <p:cNvSpPr txBox="1"/>
          <p:nvPr/>
        </p:nvSpPr>
        <p:spPr>
          <a:xfrm>
            <a:off x="4012101" y="4934818"/>
            <a:ext cx="1083657" cy="45101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CH" sz="1700" dirty="0">
                <a:ea typeface="Roboto Medium" panose="02000000000000000000" pitchFamily="2" charset="0"/>
              </a:rPr>
              <a:t>Children</a:t>
            </a:r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134DA8AC-5401-317E-3399-03B0733BABD4}"/>
              </a:ext>
            </a:extLst>
          </p:cNvPr>
          <p:cNvSpPr txBox="1"/>
          <p:nvPr/>
        </p:nvSpPr>
        <p:spPr>
          <a:xfrm>
            <a:off x="5701320" y="4934818"/>
            <a:ext cx="914400" cy="45101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 fontScale="85000" lnSpcReduction="10000"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CH" sz="2000" dirty="0" err="1">
                <a:ea typeface="Roboto Medium" panose="02000000000000000000" pitchFamily="2" charset="0"/>
              </a:rPr>
              <a:t>Youths</a:t>
            </a:r>
            <a:endParaRPr lang="de-CH" sz="2000" dirty="0">
              <a:ea typeface="Roboto Medium" panose="02000000000000000000" pitchFamily="2" charset="0"/>
            </a:endParaRPr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AF11A1A2-D3F3-FF5E-13C1-F44D43F8FFA3}"/>
              </a:ext>
            </a:extLst>
          </p:cNvPr>
          <p:cNvSpPr txBox="1"/>
          <p:nvPr/>
        </p:nvSpPr>
        <p:spPr>
          <a:xfrm>
            <a:off x="7244339" y="4936852"/>
            <a:ext cx="914400" cy="451012"/>
          </a:xfrm>
          <a:prstGeom prst="rect">
            <a:avLst/>
          </a:prstGeom>
          <a:noFill/>
        </p:spPr>
        <p:txBody>
          <a:bodyPr wrap="square" lIns="108000" tIns="36000" rIns="108000" bIns="108000" rtlCol="0">
            <a:normAutofit/>
          </a:bodyPr>
          <a:lstStyle/>
          <a:p>
            <a:pPr algn="ctr">
              <a:spcAft>
                <a:spcPts val="600"/>
              </a:spcAft>
              <a:buClr>
                <a:schemeClr val="tx2"/>
              </a:buClr>
            </a:pPr>
            <a:r>
              <a:rPr lang="de-CH" sz="1700" dirty="0" err="1">
                <a:ea typeface="Roboto Medium" panose="02000000000000000000" pitchFamily="2" charset="0"/>
              </a:rPr>
              <a:t>Adults</a:t>
            </a:r>
            <a:endParaRPr lang="de-CH" sz="1700" dirty="0">
              <a:ea typeface="Roboto Medium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6679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liennummernplatzhalter 4"/>
          <p:cNvSpPr>
            <a:spLocks noGrp="1"/>
          </p:cNvSpPr>
          <p:nvPr>
            <p:ph type="sldNum" sz="quarter" idx="18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22</a:t>
            </a:fld>
            <a:endParaRPr lang="de-CH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Stratified</a:t>
            </a:r>
            <a:r>
              <a:rPr lang="de-CH" dirty="0"/>
              <a:t> Sampling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quarter" idx="21"/>
          </p:nvPr>
        </p:nvSpPr>
        <p:spPr>
          <a:xfrm>
            <a:off x="806450" y="1447801"/>
            <a:ext cx="11053763" cy="4752974"/>
          </a:xfrm>
        </p:spPr>
        <p:txBody>
          <a:bodyPr>
            <a:normAutofit/>
          </a:bodyPr>
          <a:lstStyle/>
          <a:p>
            <a:pPr lvl="1"/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Use a sample size of 5 and the strata “youth”, “middle-aged” and “senior”.</a:t>
            </a:r>
            <a:r>
              <a:rPr lang="en-US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  <a:t> </a:t>
            </a:r>
            <a:br>
              <a:rPr lang="en-US" sz="1800" b="0" i="0" dirty="0">
                <a:solidFill>
                  <a:srgbClr val="000000"/>
                </a:solidFill>
                <a:effectLst/>
                <a:latin typeface="WordVisiCarriageReturn_MSFontService"/>
              </a:rPr>
            </a:br>
            <a:r>
              <a:rPr lang="en-US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Assume that everyone belongs to the category youth who’s in the range of 0-19, for the group middle aged everyone in the range of 20-51 and everyone above 51 is categorized as senior. </a:t>
            </a:r>
          </a:p>
          <a:p>
            <a:pPr lvl="1"/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Given Dataset: 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13, 15, 16, 16, 19, 20, 20, 21, 22, 22, 25, 25, 25, 25, 30, 33, 33, 35, 35, 35, 35, 36, 40, 45, 46, 52, 70</a:t>
            </a:r>
          </a:p>
          <a:p>
            <a:pPr lvl="1"/>
            <a:endParaRPr lang="en-US" dirty="0">
              <a:latin typeface="Arial" panose="020B0604020202020204" pitchFamily="34" charset="0"/>
              <a:cs typeface="Times New Roman" panose="02020603050405020304" pitchFamily="18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Times New Roman" panose="02020603050405020304" pitchFamily="18" charset="0"/>
              </a:rPr>
              <a:t>How do we start?</a:t>
            </a:r>
            <a:endParaRPr lang="de-CH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r>
              <a:rPr lang="de-CH" dirty="0"/>
              <a:t>Data </a:t>
            </a:r>
            <a:r>
              <a:rPr lang="de-CH" dirty="0" err="1"/>
              <a:t>Reduction</a:t>
            </a:r>
            <a:endParaRPr lang="de-CH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6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EF1DF5-0ECC-49CA-8174-9E0B95742C2E}" type="datetime4">
              <a:rPr lang="de-CH" smtClean="0"/>
              <a:pPr/>
              <a:t>6. Mai 2026</a:t>
            </a:fld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42445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9316AD3-5606-E9B8-53E8-FA068313CC1E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EF1DF5-0ECC-49CA-8174-9E0B95742C2E}" type="datetime4">
              <a:rPr lang="de-CH" smtClean="0"/>
              <a:pPr/>
              <a:t>6. Mai 2026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DC417414-7534-3AE7-D0C6-950172B4DE7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23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2DE37376-DDAC-72D2-42F7-D41B11881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Stratified</a:t>
            </a:r>
            <a:r>
              <a:rPr lang="de-CH" dirty="0"/>
              <a:t> Sampling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E5DF8E8-1888-6303-9281-6C6E84324786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de-CH" dirty="0" err="1"/>
              <a:t>Categorize</a:t>
            </a:r>
            <a:r>
              <a:rPr lang="de-CH" dirty="0"/>
              <a:t> </a:t>
            </a:r>
            <a:r>
              <a:rPr lang="de-CH" dirty="0" err="1"/>
              <a:t>the</a:t>
            </a:r>
            <a:r>
              <a:rPr lang="de-CH" dirty="0"/>
              <a:t> </a:t>
            </a:r>
            <a:r>
              <a:rPr lang="de-CH" dirty="0" err="1"/>
              <a:t>data</a:t>
            </a:r>
            <a:r>
              <a:rPr lang="de-CH" dirty="0"/>
              <a:t>:</a:t>
            </a:r>
          </a:p>
          <a:p>
            <a:pPr marL="0" indent="0">
              <a:buNone/>
            </a:pPr>
            <a:br>
              <a:rPr lang="de-CH" dirty="0"/>
            </a:br>
            <a:r>
              <a:rPr lang="de-CH" dirty="0"/>
              <a:t>Youth </a:t>
            </a:r>
            <a:r>
              <a:rPr lang="de-CH" dirty="0">
                <a:sym typeface="Wingdings" panose="05000000000000000000" pitchFamily="2" charset="2"/>
              </a:rPr>
              <a:t> (13,15,16,16,19) 5 </a:t>
            </a:r>
            <a:r>
              <a:rPr lang="de-CH" dirty="0" err="1">
                <a:sym typeface="Wingdings" panose="05000000000000000000" pitchFamily="2" charset="2"/>
              </a:rPr>
              <a:t>values</a:t>
            </a:r>
            <a:br>
              <a:rPr lang="de-CH" dirty="0">
                <a:sym typeface="Wingdings" panose="05000000000000000000" pitchFamily="2" charset="2"/>
              </a:rPr>
            </a:br>
            <a:r>
              <a:rPr lang="de-CH" dirty="0">
                <a:sym typeface="Wingdings" panose="05000000000000000000" pitchFamily="2" charset="2"/>
              </a:rPr>
              <a:t>Middle-</a:t>
            </a:r>
            <a:r>
              <a:rPr lang="de-CH" dirty="0" err="1">
                <a:sym typeface="Wingdings" panose="05000000000000000000" pitchFamily="2" charset="2"/>
              </a:rPr>
              <a:t>Aged</a:t>
            </a:r>
            <a:r>
              <a:rPr lang="de-CH" dirty="0">
                <a:sym typeface="Wingdings" panose="05000000000000000000" pitchFamily="2" charset="2"/>
              </a:rPr>
              <a:t>  (20,20,21,22,22,25,25,25,25,30,33,33,35,35,35,35,36,40,45,46) 20 Values</a:t>
            </a:r>
            <a:br>
              <a:rPr lang="de-CH" dirty="0">
                <a:sym typeface="Wingdings" panose="05000000000000000000" pitchFamily="2" charset="2"/>
              </a:rPr>
            </a:br>
            <a:r>
              <a:rPr lang="de-CH" dirty="0">
                <a:sym typeface="Wingdings" panose="05000000000000000000" pitchFamily="2" charset="2"/>
              </a:rPr>
              <a:t>Senior  (52,70) 2 Values</a:t>
            </a:r>
          </a:p>
          <a:p>
            <a:r>
              <a:rPr lang="de-CH" dirty="0" err="1">
                <a:sym typeface="Wingdings" panose="05000000000000000000" pitchFamily="2" charset="2"/>
              </a:rPr>
              <a:t>How</a:t>
            </a:r>
            <a:r>
              <a:rPr lang="de-CH" dirty="0">
                <a:sym typeface="Wingdings" panose="05000000000000000000" pitchFamily="2" charset="2"/>
              </a:rPr>
              <a:t> do </a:t>
            </a:r>
            <a:r>
              <a:rPr lang="de-CH" dirty="0" err="1">
                <a:sym typeface="Wingdings" panose="05000000000000000000" pitchFamily="2" charset="2"/>
              </a:rPr>
              <a:t>we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know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much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samples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we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have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to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take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from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each</a:t>
            </a:r>
            <a:r>
              <a:rPr lang="de-CH" dirty="0">
                <a:sym typeface="Wingdings" panose="05000000000000000000" pitchFamily="2" charset="2"/>
              </a:rPr>
              <a:t> </a:t>
            </a:r>
            <a:r>
              <a:rPr lang="de-CH" dirty="0" err="1">
                <a:sym typeface="Wingdings" panose="05000000000000000000" pitchFamily="2" charset="2"/>
              </a:rPr>
              <a:t>category</a:t>
            </a:r>
            <a:r>
              <a:rPr lang="de-CH" dirty="0">
                <a:sym typeface="Wingdings" panose="05000000000000000000" pitchFamily="2" charset="2"/>
              </a:rPr>
              <a:t>?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703527F-0D00-F1BC-C64F-3ED80370C4E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514269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BF8E84F-0750-233E-5740-C0507EF0FFF1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6494464" y="6453187"/>
            <a:ext cx="3376650" cy="179388"/>
          </a:xfrm>
          <a:prstGeom prst="rect">
            <a:avLst/>
          </a:prstGeom>
        </p:spPr>
        <p:txBody>
          <a:bodyPr lIns="0" tIns="0" rIns="0" bIns="0"/>
          <a:lstStyle>
            <a:defPPr>
              <a:defRPr lang="de-DE"/>
            </a:defPPr>
            <a:lvl1pPr marL="0" algn="l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FEF1DF5-0ECC-49CA-8174-9E0B95742C2E}" type="datetime4">
              <a:rPr lang="de-CH" smtClean="0"/>
              <a:pPr/>
              <a:t>6. Mai 2026</a:t>
            </a:fld>
            <a:endParaRPr lang="de-CH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D1C510-1FA6-4A46-4E9E-60AE0690913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68996" y="6453187"/>
            <a:ext cx="537454" cy="179387"/>
          </a:xfrm>
          <a:prstGeom prst="rect">
            <a:avLst/>
          </a:prstGeom>
        </p:spPr>
        <p:txBody>
          <a:bodyPr lIns="0" tIns="0" rIns="108000" bIns="0"/>
          <a:lstStyle>
            <a:defPPr>
              <a:defRPr lang="de-DE"/>
            </a:defPPr>
            <a:lvl1pPr marL="0" algn="r" defTabSz="609768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76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535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930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907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8838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8606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8373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8141" algn="l" defTabSz="609768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EAC321B-7500-4259-A00F-915439A35E15}" type="slidenum">
              <a:rPr lang="de-CH" smtClean="0"/>
              <a:pPr/>
              <a:t>24</a:t>
            </a:fld>
            <a:endParaRPr lang="de-CH" dirty="0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D8F7F5C1-7242-67B9-22DB-C45CD6AED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Stratified</a:t>
            </a:r>
            <a:r>
              <a:rPr lang="de-CH" dirty="0"/>
              <a:t> Sampling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414C3047-0F26-1ADE-29D3-5543CD490C07}"/>
                  </a:ext>
                </a:extLst>
              </p:cNvPr>
              <p:cNvSpPr>
                <a:spLocks noGrp="1"/>
              </p:cNvSpPr>
              <p:nvPr>
                <p:ph sz="quarter" idx="21"/>
              </p:nvPr>
            </p:nvSpPr>
            <p:spPr/>
            <p:txBody>
              <a:bodyPr/>
              <a:lstStyle/>
              <a:p>
                <a:r>
                  <a:rPr lang="de-CH" dirty="0"/>
                  <a:t>Calculate </a:t>
                </a:r>
                <a:r>
                  <a:rPr lang="de-CH" dirty="0" err="1"/>
                  <a:t>the</a:t>
                </a:r>
                <a:r>
                  <a:rPr lang="de-CH" dirty="0"/>
                  <a:t> </a:t>
                </a:r>
                <a:r>
                  <a:rPr lang="de-CH" dirty="0" err="1"/>
                  <a:t>amount</a:t>
                </a:r>
                <a:r>
                  <a:rPr lang="de-CH" dirty="0"/>
                  <a:t> </a:t>
                </a:r>
                <a:r>
                  <a:rPr lang="de-CH" dirty="0" err="1"/>
                  <a:t>of</a:t>
                </a:r>
                <a:r>
                  <a:rPr lang="de-CH" dirty="0"/>
                  <a:t> </a:t>
                </a:r>
                <a:r>
                  <a:rPr lang="de-CH" dirty="0" err="1"/>
                  <a:t>samples</a:t>
                </a:r>
                <a:r>
                  <a:rPr lang="de-CH" dirty="0"/>
                  <a:t> </a:t>
                </a:r>
                <a:r>
                  <a:rPr lang="de-CH" dirty="0" err="1"/>
                  <a:t>to</a:t>
                </a:r>
                <a:r>
                  <a:rPr lang="de-CH" dirty="0"/>
                  <a:t> </a:t>
                </a:r>
                <a:r>
                  <a:rPr lang="de-CH" dirty="0" err="1"/>
                  <a:t>take</a:t>
                </a:r>
                <a:r>
                  <a:rPr lang="de-CH" dirty="0"/>
                  <a:t> </a:t>
                </a:r>
                <a:r>
                  <a:rPr lang="de-CH" dirty="0" err="1"/>
                  <a:t>with</a:t>
                </a:r>
                <a:r>
                  <a:rPr lang="de-CH" dirty="0"/>
                  <a:t> </a:t>
                </a:r>
                <a:r>
                  <a:rPr lang="de-CH" dirty="0" err="1"/>
                  <a:t>formula</a:t>
                </a:r>
                <a:r>
                  <a:rPr lang="de-CH" dirty="0"/>
                  <a:t> </a:t>
                </a:r>
                <a:br>
                  <a:rPr lang="de-CH" dirty="0"/>
                </a:br>
                <a:endParaRPr lang="de-CH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CH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𝑆𝑎𝑚𝑝𝑙𝑒𝑠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𝐶𝑎𝑡𝑒𝑔𝑜𝑟𝑦</m:t>
                          </m:r>
                        </m:num>
                        <m:den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𝑎𝑚𝑜𝑢𝑛𝑡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de-CH" b="0" i="1" smtClean="0">
                              <a:latin typeface="Cambria Math" panose="02040503050406030204" pitchFamily="18" charset="0"/>
                            </a:rPr>
                            <m:t>𝑆𝑎𝑚𝑝𝑙𝑒𝑠</m:t>
                          </m:r>
                        </m:den>
                      </m:f>
                      <m:r>
                        <a:rPr lang="de-CH" b="0" i="0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m:rPr>
                          <m:sty m:val="p"/>
                        </m:rPr>
                        <a:rPr lang="de-CH" b="0" i="0" smtClean="0">
                          <a:latin typeface="Cambria Math" panose="02040503050406030204" pitchFamily="18" charset="0"/>
                        </a:rPr>
                        <m:t>Sample</m:t>
                      </m:r>
                      <m:r>
                        <a:rPr lang="de-CH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b="0" i="0" smtClean="0">
                          <a:latin typeface="Cambria Math" panose="02040503050406030204" pitchFamily="18" charset="0"/>
                        </a:rPr>
                        <m:t>Size</m:t>
                      </m:r>
                      <m:r>
                        <a:rPr lang="de-CH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b="0" i="0" smtClean="0">
                          <a:latin typeface="Cambria Math" panose="02040503050406030204" pitchFamily="18" charset="0"/>
                        </a:rPr>
                        <m:t>you</m:t>
                      </m:r>
                      <m:r>
                        <a:rPr lang="de-CH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b="0" i="0" smtClean="0">
                          <a:latin typeface="Cambria Math" panose="02040503050406030204" pitchFamily="18" charset="0"/>
                        </a:rPr>
                        <m:t>want</m:t>
                      </m:r>
                      <m:r>
                        <a:rPr lang="de-CH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b="0" i="0" smtClean="0"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 lang="de-CH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de-CH" b="0" i="0" smtClean="0">
                          <a:latin typeface="Cambria Math" panose="02040503050406030204" pitchFamily="18" charset="0"/>
                        </a:rPr>
                        <m:t>have</m:t>
                      </m:r>
                    </m:oMath>
                  </m:oMathPara>
                </a14:m>
                <a:endParaRPr lang="de-CH" dirty="0"/>
              </a:p>
              <a:p>
                <a:r>
                  <a:rPr lang="de-CH" dirty="0"/>
                  <a:t>Youth </a:t>
                </a:r>
                <a:r>
                  <a:rPr lang="de-CH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5</m:t>
                        </m:r>
                      </m:num>
                      <m:den>
                        <m: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27</m:t>
                        </m:r>
                      </m:den>
                    </m:f>
                    <m:r>
                      <a:rPr lang="de-CH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∗5=0.926 →1</m:t>
                    </m:r>
                  </m:oMath>
                </a14:m>
                <a:endParaRPr lang="de-CH" b="0" dirty="0">
                  <a:sym typeface="Wingdings" panose="05000000000000000000" pitchFamily="2" charset="2"/>
                </a:endParaRPr>
              </a:p>
              <a:p>
                <a:r>
                  <a:rPr lang="de-CH" dirty="0"/>
                  <a:t>Middle </a:t>
                </a:r>
                <a:r>
                  <a:rPr lang="de-CH" dirty="0" err="1"/>
                  <a:t>aged</a:t>
                </a:r>
                <a:r>
                  <a:rPr lang="de-CH" dirty="0"/>
                  <a:t> </a:t>
                </a:r>
                <a:r>
                  <a:rPr lang="de-CH" dirty="0">
                    <a:sym typeface="Wingdings" panose="05000000000000000000" pitchFamily="2" charset="2"/>
                  </a:rPr>
                  <a:t>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20</m:t>
                        </m:r>
                      </m:num>
                      <m:den>
                        <m: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27</m:t>
                        </m:r>
                      </m:den>
                    </m:f>
                    <m:r>
                      <a:rPr lang="de-CH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∗5=3.7 →4</m:t>
                    </m:r>
                  </m:oMath>
                </a14:m>
                <a:endParaRPr lang="de-CH" b="0" dirty="0">
                  <a:sym typeface="Wingdings" panose="05000000000000000000" pitchFamily="2" charset="2"/>
                </a:endParaRPr>
              </a:p>
              <a:p>
                <a:r>
                  <a:rPr lang="de-CH" b="0" dirty="0">
                    <a:sym typeface="Wingdings" panose="05000000000000000000" pitchFamily="2" charset="2"/>
                  </a:rPr>
                  <a:t>Senior 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</m:ctrlPr>
                      </m:fPr>
                      <m:num>
                        <m: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</m:t>
                        </m:r>
                      </m:num>
                      <m:den>
                        <m:r>
                          <a:rPr lang="de-CH" b="0" i="1" smtClean="0">
                            <a:latin typeface="Cambria Math" panose="02040503050406030204" pitchFamily="18" charset="0"/>
                            <a:sym typeface="Wingdings" panose="05000000000000000000" pitchFamily="2" charset="2"/>
                          </a:rPr>
                          <m:t>27</m:t>
                        </m:r>
                      </m:den>
                    </m:f>
                    <m:r>
                      <a:rPr lang="de-CH" b="0" i="1" smtClean="0">
                        <a:latin typeface="Cambria Math" panose="02040503050406030204" pitchFamily="18" charset="0"/>
                        <a:sym typeface="Wingdings" panose="05000000000000000000" pitchFamily="2" charset="2"/>
                      </a:rPr>
                      <m:t>∗5=0.37 →0</m:t>
                    </m:r>
                  </m:oMath>
                </a14:m>
                <a:endParaRPr lang="de-CH" b="0" dirty="0">
                  <a:sym typeface="Wingdings" panose="05000000000000000000" pitchFamily="2" charset="2"/>
                </a:endParaRPr>
              </a:p>
              <a:p>
                <a:pPr marL="0" indent="0">
                  <a:buNone/>
                </a:pPr>
                <a:r>
                  <a:rPr lang="de-CH" dirty="0" err="1"/>
                  <a:t>Finally</a:t>
                </a:r>
                <a:r>
                  <a:rPr lang="de-CH" dirty="0"/>
                  <a:t> </a:t>
                </a:r>
                <a:r>
                  <a:rPr lang="de-CH" dirty="0" err="1"/>
                  <a:t>take</a:t>
                </a:r>
                <a:r>
                  <a:rPr lang="de-CH" dirty="0"/>
                  <a:t> </a:t>
                </a:r>
                <a:r>
                  <a:rPr lang="de-CH" dirty="0" err="1"/>
                  <a:t>the</a:t>
                </a:r>
                <a:r>
                  <a:rPr lang="de-CH" dirty="0"/>
                  <a:t> </a:t>
                </a:r>
                <a:r>
                  <a:rPr lang="de-CH" dirty="0" err="1"/>
                  <a:t>amount</a:t>
                </a:r>
                <a:r>
                  <a:rPr lang="de-CH" dirty="0"/>
                  <a:t> </a:t>
                </a:r>
                <a:r>
                  <a:rPr lang="de-CH" dirty="0" err="1"/>
                  <a:t>of</a:t>
                </a:r>
                <a:r>
                  <a:rPr lang="de-CH" dirty="0"/>
                  <a:t> Samples </a:t>
                </a:r>
                <a:r>
                  <a:rPr lang="de-CH" dirty="0" err="1"/>
                  <a:t>from</a:t>
                </a:r>
                <a:r>
                  <a:rPr lang="de-CH" dirty="0"/>
                  <a:t> </a:t>
                </a:r>
                <a:r>
                  <a:rPr lang="de-CH" dirty="0" err="1"/>
                  <a:t>each</a:t>
                </a:r>
                <a:r>
                  <a:rPr lang="de-CH" dirty="0"/>
                  <a:t> </a:t>
                </a:r>
                <a:r>
                  <a:rPr lang="de-CH" dirty="0" err="1"/>
                  <a:t>category</a:t>
                </a:r>
                <a:r>
                  <a:rPr lang="de-CH" dirty="0"/>
                  <a:t> </a:t>
                </a:r>
                <a:r>
                  <a:rPr lang="de-CH" dirty="0" err="1"/>
                  <a:t>based</a:t>
                </a:r>
                <a:r>
                  <a:rPr lang="de-CH" dirty="0"/>
                  <a:t> on SRSWOR </a:t>
                </a:r>
                <a:r>
                  <a:rPr lang="de-CH" dirty="0" err="1"/>
                  <a:t>or</a:t>
                </a:r>
                <a:r>
                  <a:rPr lang="de-CH" dirty="0"/>
                  <a:t> SRSWR</a:t>
                </a:r>
              </a:p>
            </p:txBody>
          </p:sp>
        </mc:Choice>
        <mc:Fallback xmlns="">
          <p:sp>
            <p:nvSpPr>
              <p:cNvPr id="6" name="Inhaltsplatzhalter 5">
                <a:extLst>
                  <a:ext uri="{FF2B5EF4-FFF2-40B4-BE49-F238E27FC236}">
                    <a16:creationId xmlns:a16="http://schemas.microsoft.com/office/drawing/2014/main" id="{414C3047-0F26-1ADE-29D3-5543CD490C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21"/>
              </p:nvPr>
            </p:nvSpPr>
            <p:spPr>
              <a:blipFill>
                <a:blip r:embed="rId2"/>
                <a:stretch>
                  <a:fillRect l="-1378" t="-1540"/>
                </a:stretch>
              </a:blipFill>
            </p:spPr>
            <p:txBody>
              <a:bodyPr/>
              <a:lstStyle/>
              <a:p>
                <a:r>
                  <a:rPr lang="de-C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94DE4C6-C6DD-693A-449B-CCEDE1892B0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>
            <a:normAutofit lnSpcReduction="10000"/>
          </a:bodyPr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891509271"/>
      </p:ext>
    </p:extLst>
  </p:cSld>
  <p:clrMapOvr>
    <a:masterClrMapping/>
  </p:clrMapOvr>
</p:sld>
</file>

<file path=ppt/theme/theme1.xml><?xml version="1.0" encoding="utf-8"?>
<a:theme xmlns:a="http://schemas.openxmlformats.org/drawingml/2006/main" name="OST-Vorlage">
  <a:themeElements>
    <a:clrScheme name="Benutzerdefiniert 23">
      <a:dk1>
        <a:srgbClr val="191919"/>
      </a:dk1>
      <a:lt1>
        <a:srgbClr val="FFFFFF"/>
      </a:lt1>
      <a:dk2>
        <a:srgbClr val="8C195F"/>
      </a:dk2>
      <a:lt2>
        <a:srgbClr val="C6C6C6"/>
      </a:lt2>
      <a:accent1>
        <a:srgbClr val="6B3881"/>
      </a:accent1>
      <a:accent2>
        <a:srgbClr val="D0A9D0"/>
      </a:accent2>
      <a:accent3>
        <a:srgbClr val="007E6B"/>
      </a:accent3>
      <a:accent4>
        <a:srgbClr val="A7D5C2"/>
      </a:accent4>
      <a:accent5>
        <a:srgbClr val="C32E15"/>
      </a:accent5>
      <a:accent6>
        <a:srgbClr val="F39A8B"/>
      </a:accent6>
      <a:hlink>
        <a:srgbClr val="D72864"/>
      </a:hlink>
      <a:folHlink>
        <a:srgbClr val="8C195F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28575"/>
        <a:effectLst/>
      </a:spPr>
      <a:bodyPr rtlCol="0" anchor="t"/>
      <a:lstStyle>
        <a:defPPr algn="l">
          <a:defRPr sz="1400" dirty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108000" tIns="36000" rIns="108000" bIns="108000" rtlCol="0">
        <a:normAutofit/>
      </a:bodyPr>
      <a:lstStyle>
        <a:defPPr marL="252000" indent="-252000" algn="l">
          <a:spcAft>
            <a:spcPts val="600"/>
          </a:spcAft>
          <a:buClr>
            <a:schemeClr val="tx2"/>
          </a:buClr>
          <a:buFont typeface="Arial" panose="020B0604020202020204" pitchFamily="34" charset="0"/>
          <a:buChar char="•"/>
          <a:defRPr sz="2000" dirty="0" err="1" smtClean="0">
            <a:ea typeface="Roboto Medium" panose="02000000000000000000" pitchFamily="2" charset="0"/>
          </a:defRPr>
        </a:defPPr>
      </a:lstStyle>
    </a:txDef>
  </a:objectDefaults>
  <a:extraClrSchemeLst>
    <a:extraClrScheme>
      <a:clrScheme name="OST - Farben">
        <a:dk1>
          <a:srgbClr val="191919"/>
        </a:dk1>
        <a:lt1>
          <a:srgbClr val="FFFFFF"/>
        </a:lt1>
        <a:dk2>
          <a:srgbClr val="8C195F"/>
        </a:dk2>
        <a:lt2>
          <a:srgbClr val="D72864"/>
        </a:lt2>
        <a:accent1>
          <a:srgbClr val="56276D"/>
        </a:accent1>
        <a:accent2>
          <a:srgbClr val="C397C4"/>
        </a:accent2>
        <a:accent3>
          <a:srgbClr val="146C58"/>
        </a:accent3>
        <a:accent4>
          <a:srgbClr val="99CCB5"/>
        </a:accent4>
        <a:accent5>
          <a:srgbClr val="B21D19"/>
        </a:accent5>
        <a:accent6>
          <a:srgbClr val="EC867B"/>
        </a:accent6>
        <a:hlink>
          <a:srgbClr val="191919"/>
        </a:hlink>
        <a:folHlink>
          <a:srgbClr val="19191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custClrLst>
    <a:custClr name="OST Violett">
      <a:srgbClr val="9560A4"/>
    </a:custClr>
    <a:custClr name="OST Grün">
      <a:srgbClr val="1DAF8E"/>
    </a:custClr>
    <a:custClr name="OST Rot">
      <a:srgbClr val="E84E0F"/>
    </a:custClr>
    <a:custClr name="OST Blau">
      <a:srgbClr val="0086CD"/>
    </a:custClr>
    <a:custClr name="OST Orange">
      <a:srgbClr val="FBBA00"/>
    </a:custClr>
    <a:custClr name="Weiss">
      <a:srgbClr val="FFFFFF"/>
    </a:custClr>
    <a:custClr name="Weiss">
      <a:srgbClr val="FFFFFF"/>
    </a:custClr>
    <a:custClr name="OST Schwarz">
      <a:srgbClr val="191919"/>
    </a:custClr>
    <a:custClr name="OST Brombeer">
      <a:srgbClr val="8C195F"/>
    </a:custClr>
    <a:custClr name="OST Himbeer">
      <a:srgbClr val="D72864"/>
    </a:custClr>
    <a:custClr name="OST Dunkelviolett">
      <a:srgbClr val="6B3881"/>
    </a:custClr>
    <a:custClr name="OST Dunkelgrün">
      <a:srgbClr val="007E6B"/>
    </a:custClr>
    <a:custClr name="OST Dunkelrot">
      <a:srgbClr val="C32E15"/>
    </a:custClr>
    <a:custClr name="OST Dunkelblau">
      <a:srgbClr val="0073B0"/>
    </a:custClr>
    <a:custClr name="OST Dunkelorange">
      <a:srgbClr val="D18F00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OST Hellviolett">
      <a:srgbClr val="D0A9D0"/>
    </a:custClr>
    <a:custClr name="OST Hellgrün">
      <a:srgbClr val="A7D5C2"/>
    </a:custClr>
    <a:custClr name="OST Hellrot">
      <a:srgbClr val="F39A8B"/>
    </a:custClr>
    <a:custClr name="OST Hellblau">
      <a:srgbClr val="5FBFED"/>
    </a:custClr>
    <a:custClr name="OST Hellorange">
      <a:srgbClr val="FDD6A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  <a:custClr name="Weiss">
      <a:srgbClr val="FFFFFF"/>
    </a:custClr>
  </a:custClrLst>
  <a:extLst>
    <a:ext uri="{05A4C25C-085E-4340-85A3-A5531E510DB2}">
      <thm15:themeFamily xmlns:thm15="http://schemas.microsoft.com/office/thememl/2012/main" name="OST_Vorlage_EN_16zu9_2024_mit-WOWIWI.potx" id="{8F5FB676-9297-466D-96A4-FCAE02E90B52}" vid="{F457813D-5443-42DC-9417-2DBF684FC9B1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T - Fonts">
      <a:majorFont>
        <a:latin typeface="Zilla Slab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ST - Fonts">
      <a:majorFont>
        <a:latin typeface="Zilla Slab Light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902C9BA7D31A54D8D49C57462F6F49F" ma:contentTypeVersion="6" ma:contentTypeDescription="Ein neues Dokument erstellen." ma:contentTypeScope="" ma:versionID="e8b94cb0416698a1f05b87ee0f9e1c61">
  <xsd:schema xmlns:xsd="http://www.w3.org/2001/XMLSchema" xmlns:xs="http://www.w3.org/2001/XMLSchema" xmlns:p="http://schemas.microsoft.com/office/2006/metadata/properties" xmlns:ns2="836fdef4-d323-4728-b9c8-db1b2ba3eb44" xmlns:ns3="f32a0372-9749-4d12-8c96-d2a077a726c4" targetNamespace="http://schemas.microsoft.com/office/2006/metadata/properties" ma:root="true" ma:fieldsID="2d3b3aa0cd091d96c0c25976daaaeb10" ns2:_="" ns3:_="">
    <xsd:import namespace="836fdef4-d323-4728-b9c8-db1b2ba3eb44"/>
    <xsd:import namespace="f32a0372-9749-4d12-8c96-d2a077a726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6fdef4-d323-4728-b9c8-db1b2ba3eb4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32a0372-9749-4d12-8c96-d2a077a726c4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B2442B1-B9CD-4924-B6F9-AE9923AE6E26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96A28CB-3BC8-4203-8D87-CC5F3DBB6D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51F6FF2-4254-43E9-830E-3CC7A71A99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6fdef4-d323-4728-b9c8-db1b2ba3eb44"/>
    <ds:schemaRef ds:uri="f32a0372-9749-4d12-8c96-d2a077a726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OST_Vorlage_EN_16zu9_2024_mit-WOWIWI</Template>
  <TotalTime>0</TotalTime>
  <Words>1305</Words>
  <Application>Microsoft Office PowerPoint</Application>
  <PresentationFormat>Benutzerdefiniert</PresentationFormat>
  <Paragraphs>291</Paragraphs>
  <Slides>24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9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24</vt:i4>
      </vt:variant>
    </vt:vector>
  </HeadingPairs>
  <TitlesOfParts>
    <vt:vector size="34" baseType="lpstr">
      <vt:lpstr>Arial</vt:lpstr>
      <vt:lpstr>Cambria Math</vt:lpstr>
      <vt:lpstr>Google Sans</vt:lpstr>
      <vt:lpstr>Roboto</vt:lpstr>
      <vt:lpstr>Roboto Medium</vt:lpstr>
      <vt:lpstr>Symbol</vt:lpstr>
      <vt:lpstr>Times New Roman</vt:lpstr>
      <vt:lpstr>Wingdings</vt:lpstr>
      <vt:lpstr>WordVisiCarriageReturn_MSFontService</vt:lpstr>
      <vt:lpstr>OST-Vorlage</vt:lpstr>
      <vt:lpstr>Preprocessing &amp; Visualization (2) Exercises</vt:lpstr>
      <vt:lpstr>Binning</vt:lpstr>
      <vt:lpstr>Correlation</vt:lpstr>
      <vt:lpstr>Correlation</vt:lpstr>
      <vt:lpstr>What can be said about this graph?</vt:lpstr>
      <vt:lpstr>Chi Square </vt:lpstr>
      <vt:lpstr>Chi Square</vt:lpstr>
      <vt:lpstr>Chi Square</vt:lpstr>
      <vt:lpstr>Chi Square</vt:lpstr>
      <vt:lpstr>Chi Square</vt:lpstr>
      <vt:lpstr>Chi Square</vt:lpstr>
      <vt:lpstr>Min-Max Normalization</vt:lpstr>
      <vt:lpstr>Normalization by Decimal Scaling</vt:lpstr>
      <vt:lpstr>Z-Score Normalization</vt:lpstr>
      <vt:lpstr>Z-Score Normalisierung</vt:lpstr>
      <vt:lpstr>Discretization</vt:lpstr>
      <vt:lpstr>Discretization</vt:lpstr>
      <vt:lpstr>Discretization</vt:lpstr>
      <vt:lpstr>Discretization</vt:lpstr>
      <vt:lpstr>Discretization</vt:lpstr>
      <vt:lpstr>Discretization</vt:lpstr>
      <vt:lpstr>Stratified Sampling</vt:lpstr>
      <vt:lpstr>Stratified Sampling</vt:lpstr>
      <vt:lpstr>Stratified Sampling</vt:lpstr>
    </vt:vector>
  </TitlesOfParts>
  <Company>OST Ostschweizer Fachhochschule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Kevin Pfister</dc:creator>
  <cp:lastModifiedBy>Kevin Pfister</cp:lastModifiedBy>
  <cp:revision>3</cp:revision>
  <cp:lastPrinted>2019-10-30T10:24:00Z</cp:lastPrinted>
  <dcterms:created xsi:type="dcterms:W3CDTF">2025-02-11T07:43:55Z</dcterms:created>
  <dcterms:modified xsi:type="dcterms:W3CDTF">2026-05-06T13:42:58Z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0x0101002902C9BA7D31A54D8D49C57462F6F49F</vt:lpwstr>
  </property>
</Properties>
</file>